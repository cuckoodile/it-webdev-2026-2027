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Arial Black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EeO8VzVCwEhQSgOTmrJhGtQZp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375D7F-E625-449F-AD94-6D000155E66E}">
  <a:tblStyle styleId="{B2375D7F-E625-449F-AD94-6D000155E6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h377b023b7288c0d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h377b023b7288c0df_0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h377b023b7288c0df_0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297180" y="1120676"/>
            <a:ext cx="6675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PH" sz="7200" u="none" cap="none" strike="noStrike">
                <a:solidFill>
                  <a:srgbClr val="F5C065"/>
                </a:solidFill>
                <a:latin typeface="Arial Black"/>
                <a:ea typeface="Arial Black"/>
                <a:cs typeface="Arial Black"/>
                <a:sym typeface="Arial Black"/>
              </a:rPr>
              <a:t>Session 7:</a:t>
            </a:r>
            <a:endParaRPr b="0" i="0" sz="7200" u="none" cap="none" strike="noStrike">
              <a:solidFill>
                <a:srgbClr val="F5C065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PH" sz="7200" u="none" cap="none" strike="noStrike">
                <a:solidFill>
                  <a:srgbClr val="F5C065"/>
                </a:solidFill>
                <a:latin typeface="Arial Black"/>
                <a:ea typeface="Arial Black"/>
                <a:cs typeface="Arial Black"/>
                <a:sym typeface="Arial Black"/>
              </a:rPr>
              <a:t>Hooks</a:t>
            </a:r>
            <a:endParaRPr b="0" i="0" sz="7200" u="none" cap="none" strike="noStrike">
              <a:solidFill>
                <a:srgbClr val="F5C06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28625" y="3629025"/>
            <a:ext cx="519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PH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by: Sube, Lhourde Ian 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PH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PH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C-Prog SHS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What Are React Hooks?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Function components with memory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02920" y="1783080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Hooks are special functions that let function components use features that previously required class components.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02920" y="260604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Features hooks give function components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02920" y="2944368"/>
            <a:ext cx="1051560" cy="402336"/>
          </a:xfrm>
          <a:prstGeom prst="roundRect">
            <a:avLst>
              <a:gd fmla="val 50000" name="adj"/>
            </a:avLst>
          </a:prstGeom>
          <a:solidFill>
            <a:srgbClr val="D8DFF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1691639" y="2944368"/>
            <a:ext cx="2194560" cy="402336"/>
          </a:xfrm>
          <a:prstGeom prst="roundRect">
            <a:avLst>
              <a:gd fmla="val 50000" name="adj"/>
            </a:avLst>
          </a:prstGeom>
          <a:solidFill>
            <a:srgbClr val="D8DFF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Lifecycle methods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023359" y="2944368"/>
            <a:ext cx="868680" cy="402336"/>
          </a:xfrm>
          <a:prstGeom prst="roundRect">
            <a:avLst>
              <a:gd fmla="val 50000" name="adj"/>
            </a:avLst>
          </a:prstGeom>
          <a:solidFill>
            <a:srgbClr val="D8DFF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029199" y="2944368"/>
            <a:ext cx="1188720" cy="402336"/>
          </a:xfrm>
          <a:prstGeom prst="roundRect">
            <a:avLst>
              <a:gd fmla="val 50000" name="adj"/>
            </a:avLst>
          </a:prstGeom>
          <a:solidFill>
            <a:srgbClr val="D8DFF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02920" y="3657600"/>
            <a:ext cx="6035040" cy="2103120"/>
          </a:xfrm>
          <a:prstGeom prst="roundRect">
            <a:avLst>
              <a:gd fmla="val 7826" name="adj"/>
            </a:avLst>
          </a:prstGeom>
          <a:solidFill>
            <a:srgbClr val="2A3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68680" y="39319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F5C065"/>
                </a:solidFill>
                <a:latin typeface="Arial"/>
                <a:ea typeface="Arial"/>
                <a:cs typeface="Arial"/>
                <a:sym typeface="Arial"/>
              </a:rPr>
              <a:t>THINK OF IT THIS WAY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868680" y="4343400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Hooks are React's way of remembering information between renders.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858000" y="1783080"/>
            <a:ext cx="4828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Today's three hooks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858000" y="2194560"/>
            <a:ext cx="4828032" cy="1097280"/>
          </a:xfrm>
          <a:prstGeom prst="roundRect">
            <a:avLst>
              <a:gd fmla="val 13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086600" y="23774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Database.png"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7534" y="253837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8046720" y="2322576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useState()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8046720" y="2724912"/>
            <a:ext cx="3456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Remembers data. Changing it re-renders the component.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858000" y="3401568"/>
            <a:ext cx="4828032" cy="1097280"/>
          </a:xfrm>
          <a:prstGeom prst="roundRect">
            <a:avLst>
              <a:gd fmla="val 13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086600" y="3584447"/>
            <a:ext cx="731520" cy="73152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Zap.png" id="122" name="Google Shape;1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7534" y="3745382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8046720" y="3529584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00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useEffect()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046720" y="3931920"/>
            <a:ext cx="3456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Runs side effects after the component renders.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858000" y="4608576"/>
            <a:ext cx="4828032" cy="1097280"/>
          </a:xfrm>
          <a:prstGeom prst="roundRect">
            <a:avLst>
              <a:gd fmla="val 13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086600" y="4791455"/>
            <a:ext cx="731520" cy="73152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Target.png" id="127" name="Google Shape;12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7534" y="4952390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8046720" y="4736592"/>
            <a:ext cx="3456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0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useRef()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8046720" y="5138928"/>
            <a:ext cx="3456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Holds a value or DOM element without triggering a render.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Hooks in the Rendering Lifecycle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From a user action to useEffect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02920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interacts with UI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2179015" y="2683764"/>
            <a:ext cx="20116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410358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changes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setState() / useState()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086453" y="2683764"/>
            <a:ext cx="20116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317796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renders component again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Function executes from top to bottom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993892" y="2683764"/>
            <a:ext cx="20116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225235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DOM comparison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Diffing algorithm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Find what changed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7901330" y="2683764"/>
            <a:ext cx="20116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132673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updates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Browser UI changes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9808768" y="2683764"/>
            <a:ext cx="20116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0040112" y="1783080"/>
            <a:ext cx="1645920" cy="2057400"/>
          </a:xfrm>
          <a:prstGeom prst="roundRect">
            <a:avLst>
              <a:gd fmla="val 7777" name="adj"/>
            </a:avLst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useEffect executes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After DOM is committed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API calls, subscriptions, timers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PH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Cleanup before next effect/unmount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02920" y="4114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Important order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02920" y="4526280"/>
            <a:ext cx="2624328" cy="1371600"/>
          </a:xfrm>
          <a:prstGeom prst="roundRect">
            <a:avLst>
              <a:gd fmla="val 9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76656" y="4700016"/>
            <a:ext cx="384048" cy="384048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161288" y="4727448"/>
            <a:ext cx="189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Component renders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31520" y="5257800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values are read.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3355848" y="4526280"/>
            <a:ext cx="2624328" cy="1371600"/>
          </a:xfrm>
          <a:prstGeom prst="roundRect">
            <a:avLst>
              <a:gd fmla="val 9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529584" y="4700016"/>
            <a:ext cx="384048" cy="384048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014215" y="4727448"/>
            <a:ext cx="189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 updates state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584448" y="5257800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setState()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schedules another render.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6208776" y="4526280"/>
            <a:ext cx="2624328" cy="1371600"/>
          </a:xfrm>
          <a:prstGeom prst="roundRect">
            <a:avLst>
              <a:gd fmla="val 9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82512" y="4700016"/>
            <a:ext cx="384048" cy="384048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867144" y="4727448"/>
            <a:ext cx="189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Component re-renders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37376" y="5257800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Hook values are reused.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9061704" y="4526280"/>
            <a:ext cx="2624328" cy="1371600"/>
          </a:xfrm>
          <a:prstGeom prst="roundRect">
            <a:avLst>
              <a:gd fmla="val 9333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9235440" y="4700016"/>
            <a:ext cx="384048" cy="384048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9720072" y="4727448"/>
            <a:ext cx="189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DOM finishes updating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9290304" y="5257800"/>
            <a:ext cx="2258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useEffect()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runs.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Rules of 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Very important: hooks follow strict rules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02920" y="1783080"/>
            <a:ext cx="6720840" cy="1234440"/>
          </a:xfrm>
          <a:prstGeom prst="roundRect">
            <a:avLst>
              <a:gd fmla="val 1185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77240" y="2080260"/>
            <a:ext cx="640080" cy="64008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691640" y="1783080"/>
            <a:ext cx="5349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9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Top level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en-PH" sz="15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PH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loops, or nested functions.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02920" y="3154680"/>
            <a:ext cx="6720840" cy="1234440"/>
          </a:xfrm>
          <a:prstGeom prst="roundRect">
            <a:avLst>
              <a:gd fmla="val 1185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77240" y="3451860"/>
            <a:ext cx="640080" cy="64008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691640" y="3154680"/>
            <a:ext cx="5349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9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Only in React 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Call hooks inside function components or custom hooks, never inside ordinary JavaScript functions.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02920" y="4526280"/>
            <a:ext cx="6720840" cy="1234440"/>
          </a:xfrm>
          <a:prstGeom prst="roundRect">
            <a:avLst>
              <a:gd fmla="val 1185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77240" y="4823460"/>
            <a:ext cx="640080" cy="64008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691640" y="4526280"/>
            <a:ext cx="5349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9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Same order every render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React identifies hooks by their call order.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7543800" y="1783080"/>
            <a:ext cx="4142232" cy="3977639"/>
          </a:xfrm>
          <a:prstGeom prst="roundRect">
            <a:avLst>
              <a:gd fmla="val 4137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7863840" y="2011680"/>
            <a:ext cx="3502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5C065"/>
                </a:solidFill>
                <a:latin typeface="Arial"/>
                <a:ea typeface="Arial"/>
                <a:cs typeface="Arial"/>
                <a:sym typeface="Arial"/>
              </a:rPr>
              <a:t>React tracks hooks by position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863840" y="2788920"/>
            <a:ext cx="3502152" cy="621792"/>
          </a:xfrm>
          <a:prstGeom prst="roundRect">
            <a:avLst>
              <a:gd fmla="val 17647" name="adj"/>
            </a:avLst>
          </a:prstGeom>
          <a:solidFill>
            <a:srgbClr val="222E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8092440" y="2916935"/>
            <a:ext cx="365760" cy="365760"/>
          </a:xfrm>
          <a:prstGeom prst="ellipse">
            <a:avLst/>
          </a:prstGeom>
          <a:solidFill>
            <a:srgbClr val="F5C065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41B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686800" y="2788920"/>
            <a:ext cx="24963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7CB7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7863840" y="3566160"/>
            <a:ext cx="3502152" cy="621792"/>
          </a:xfrm>
          <a:prstGeom prst="roundRect">
            <a:avLst>
              <a:gd fmla="val 17647" name="adj"/>
            </a:avLst>
          </a:prstGeom>
          <a:solidFill>
            <a:srgbClr val="222E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8092440" y="3694176"/>
            <a:ext cx="365760" cy="365760"/>
          </a:xfrm>
          <a:prstGeom prst="ellipse">
            <a:avLst/>
          </a:prstGeom>
          <a:solidFill>
            <a:srgbClr val="F5C065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41B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686800" y="3566160"/>
            <a:ext cx="24963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7863840" y="4343400"/>
            <a:ext cx="3502152" cy="621792"/>
          </a:xfrm>
          <a:prstGeom prst="roundRect">
            <a:avLst>
              <a:gd fmla="val 17647" name="adj"/>
            </a:avLst>
          </a:prstGeom>
          <a:solidFill>
            <a:srgbClr val="222E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8092440" y="4471416"/>
            <a:ext cx="365760" cy="365760"/>
          </a:xfrm>
          <a:prstGeom prst="ellipse">
            <a:avLst/>
          </a:prstGeom>
          <a:solidFill>
            <a:srgbClr val="F5C065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41B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686800" y="4343400"/>
            <a:ext cx="24963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67D5E8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7863840" y="5074920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PH" sz="1400" u="none" cap="none" strike="noStrike">
                <a:solidFill>
                  <a:srgbClr val="E6EAFF"/>
                </a:solidFill>
                <a:latin typeface="Arial"/>
                <a:ea typeface="Arial"/>
                <a:cs typeface="Arial"/>
                <a:sym typeface="Arial"/>
              </a:rPr>
              <a:t>Same order on every render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Rules of Hooks: Good vs Bad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Top level, same order, every render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204" name="Google Shape;2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" y="1901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1143000" y="18013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2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Good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02920" y="2377440"/>
            <a:ext cx="5431536" cy="2377440"/>
          </a:xfrm>
          <a:prstGeom prst="roundRect">
            <a:avLst>
              <a:gd fmla="val 5384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731520" y="2606040"/>
            <a:ext cx="497433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App()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[count, setCount] = </a:t>
            </a:r>
            <a:r>
              <a:rPr b="0" i="0" lang="en-PH" sz="15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PH" sz="15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inputRef = </a:t>
            </a:r>
            <a:r>
              <a:rPr b="0" i="0" lang="en-PH" sz="15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{}, []);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PH" sz="15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{count}</a:t>
            </a:r>
            <a:r>
              <a:rPr b="0" i="0" lang="en-PH" sz="15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300216" y="1801368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X.png" id="209" name="Google Shape;2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01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6894576" y="18013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2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Bad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6254496" y="2377440"/>
            <a:ext cx="5431536" cy="2377440"/>
          </a:xfrm>
          <a:prstGeom prst="roundRect">
            <a:avLst>
              <a:gd fmla="val 5384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483096" y="2606040"/>
            <a:ext cx="497433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App()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(loggedIn)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PH" sz="15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{}); </a:t>
            </a:r>
            <a:r>
              <a:rPr b="1" i="1" lang="en-PH" sz="1500" u="none" cap="none" strike="noStrike">
                <a:solidFill>
                  <a:srgbClr val="FF8A8A"/>
                </a:solidFill>
                <a:latin typeface="Courier New"/>
                <a:ea typeface="Courier New"/>
                <a:cs typeface="Courier New"/>
                <a:sym typeface="Courier New"/>
              </a:rPr>
              <a:t>// Not allowed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5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PH" sz="15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b="0" i="0" lang="en-PH" sz="15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02920" y="4983480"/>
            <a:ext cx="11183112" cy="731520"/>
          </a:xfrm>
          <a:prstGeom prst="roundRect">
            <a:avLst>
              <a:gd fmla="val 17500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Info.png" id="215" name="Google Shape;21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24" y="52212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417320" y="4983480"/>
            <a:ext cx="99943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React identifies hooks by call order, so keep them at the top level and in the same order on every render.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useState: Purpose and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Hook 1: useState()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502920" y="1783080"/>
            <a:ext cx="11183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Lets a component store reactive data. When that data changes, React re-renders the component.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02920" y="2514600"/>
            <a:ext cx="11183112" cy="914400"/>
          </a:xfrm>
          <a:prstGeom prst="roundRect">
            <a:avLst>
              <a:gd fmla="val 160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868680" y="2514600"/>
            <a:ext cx="10451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6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const [</a:t>
            </a:r>
            <a:r>
              <a:rPr b="1" i="0" lang="en-PH" sz="2600" u="none" cap="none" strike="noStrike">
                <a:solidFill>
                  <a:srgbClr val="7CB7FF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b="0" i="0" lang="en-PH" sz="26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PH" sz="26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b="0" i="0" lang="en-PH" sz="26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] = useState(</a:t>
            </a:r>
            <a:r>
              <a:rPr b="1" i="0" lang="en-PH" sz="26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initialValue</a:t>
            </a:r>
            <a:r>
              <a:rPr b="0" i="0" lang="en-PH" sz="26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502920" y="3749039"/>
            <a:ext cx="3544824" cy="1965960"/>
          </a:xfrm>
          <a:prstGeom prst="roundRect">
            <a:avLst>
              <a:gd fmla="val 744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777240" y="4023360"/>
            <a:ext cx="1120140" cy="438912"/>
          </a:xfrm>
          <a:prstGeom prst="roundRect">
            <a:avLst>
              <a:gd fmla="val 50000" name="adj"/>
            </a:avLst>
          </a:prstGeom>
          <a:solidFill>
            <a:srgbClr val="7CB7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141B4D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777240" y="4663440"/>
            <a:ext cx="29961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Current value.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322064" y="3749039"/>
            <a:ext cx="3544824" cy="1965960"/>
          </a:xfrm>
          <a:prstGeom prst="roundRect">
            <a:avLst>
              <a:gd fmla="val 744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596384" y="4023360"/>
            <a:ext cx="1490472" cy="438912"/>
          </a:xfrm>
          <a:prstGeom prst="roundRect">
            <a:avLst>
              <a:gd fmla="val 50000" name="adj"/>
            </a:avLst>
          </a:prstGeom>
          <a:solidFill>
            <a:srgbClr val="F5C06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141B4D"/>
                </a:solidFill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4596384" y="4663440"/>
            <a:ext cx="29961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Function that updates the value.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8141208" y="3749039"/>
            <a:ext cx="3544824" cy="1965960"/>
          </a:xfrm>
          <a:prstGeom prst="roundRect">
            <a:avLst>
              <a:gd fmla="val 744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8415528" y="4023360"/>
            <a:ext cx="1984248" cy="438912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141B4D"/>
                </a:solidFill>
                <a:latin typeface="Courier New"/>
                <a:ea typeface="Courier New"/>
                <a:cs typeface="Courier New"/>
                <a:sym typeface="Courier New"/>
              </a:rPr>
              <a:t>initialValue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415528" y="4663440"/>
            <a:ext cx="29961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Value used only on the first render.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useState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Counter.jsx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02920" y="1783080"/>
            <a:ext cx="6492240" cy="4023360"/>
          </a:xfrm>
          <a:prstGeom prst="roundRect">
            <a:avLst>
              <a:gd fmla="val 3181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02920" y="1783080"/>
            <a:ext cx="6492240" cy="384048"/>
          </a:xfrm>
          <a:prstGeom prst="round2SameRect">
            <a:avLst>
              <a:gd fmla="val 33333" name="adj1"/>
              <a:gd fmla="val 0" name="adj2"/>
            </a:avLst>
          </a:prstGeom>
          <a:solidFill>
            <a:srgbClr val="222E78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3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Counter.jsx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31520" y="2295144"/>
            <a:ext cx="6035040" cy="3419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b="0" i="0" lang="en-PH" sz="12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PH" sz="1200" u="none" cap="none" strike="noStrike">
                <a:solidFill>
                  <a:srgbClr val="A5E887"/>
                </a:solidFill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Counter()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[count, setCount] = </a:t>
            </a:r>
            <a:r>
              <a:rPr b="0" i="0" lang="en-PH" sz="12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PH" sz="12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Count: {count}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&lt;/h2&gt;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onClick={()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setCount(count + </a:t>
            </a:r>
            <a:r>
              <a:rPr b="0" i="0" lang="en-PH" sz="12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)}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Increase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onClick={()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setCount(count - </a:t>
            </a:r>
            <a:r>
              <a:rPr b="0" i="0" lang="en-PH" sz="12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)}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  Decrease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PH" sz="1200" u="none" cap="none" strike="noStrike">
                <a:solidFill>
                  <a:srgbClr val="7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Counter;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7269480" y="1783080"/>
            <a:ext cx="4416552" cy="1965960"/>
          </a:xfrm>
          <a:prstGeom prst="roundRect">
            <a:avLst>
              <a:gd fmla="val 744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7452360" y="192024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FileText.png" id="250" name="Google Shape;2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944" y="20208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8046720" y="1920240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File structure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7635240" y="2560320"/>
            <a:ext cx="38679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5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src/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├─ App.jsx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1" i="0" lang="en-PH" sz="15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Counter.jsx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PH" sz="1500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└─ main.jsx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7269480" y="3931920"/>
            <a:ext cx="4416552" cy="1874519"/>
          </a:xfrm>
          <a:prstGeom prst="roundRect">
            <a:avLst>
              <a:gd fmla="val 7804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7452360" y="4069080"/>
            <a:ext cx="457200" cy="457200"/>
          </a:xfrm>
          <a:prstGeom prst="ellipse">
            <a:avLst/>
          </a:prstGeom>
          <a:solidFill>
            <a:srgbClr val="0092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ist.png" id="255" name="Google Shape;2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2944" y="4169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8046720" y="4069080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7589520" y="4709160"/>
            <a:ext cx="38679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useState(0)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gives us </a:t>
            </a: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setCount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button calls </a:t>
            </a: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setCount</a:t>
            </a: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with a new value.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PH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React re-renders, so the heading shows the new count.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useState Lifecycle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Step by step: what happens on a click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02920" y="1783080"/>
            <a:ext cx="1737360" cy="128016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useState(0)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2323719" y="226771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681478" y="1783080"/>
            <a:ext cx="1737360" cy="1280160"/>
          </a:xfrm>
          <a:prstGeom prst="roundRect">
            <a:avLst>
              <a:gd fmla="val 10000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4502276" y="226771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860036" y="1783080"/>
            <a:ext cx="1737360" cy="1280160"/>
          </a:xfrm>
          <a:prstGeom prst="roundRect">
            <a:avLst>
              <a:gd fmla="val 10000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setCount(1)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6680834" y="226771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7038594" y="1783080"/>
            <a:ext cx="2468880" cy="128016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re-renders component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9590913" y="226771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9948672" y="1783080"/>
            <a:ext cx="1737360" cy="1280160"/>
          </a:xfrm>
          <a:prstGeom prst="roundRect">
            <a:avLst>
              <a:gd fmla="val 1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count = 1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502920" y="34015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Step-by-step execution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502920" y="3840480"/>
            <a:ext cx="2624328" cy="1965960"/>
          </a:xfrm>
          <a:prstGeom prst="roundRect">
            <a:avLst>
              <a:gd fmla="val 651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58368" y="402336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234440" y="4023360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Initial render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731520" y="470916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 React renders "Count: 0" with Increase and Decrease buttons.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3355848" y="3840480"/>
            <a:ext cx="2624328" cy="1965960"/>
          </a:xfrm>
          <a:prstGeom prst="roundRect">
            <a:avLst>
              <a:gd fmla="val 651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3511296" y="402336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4087368" y="4023360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 clicks Increase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3584448" y="470916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setCount(count + 1)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becomes </a:t>
            </a: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setCount(1)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6208776" y="3840480"/>
            <a:ext cx="2624328" cy="1965960"/>
          </a:xfrm>
          <a:prstGeom prst="roundRect">
            <a:avLst>
              <a:gd fmla="val 651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364224" y="402336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6940296" y="4023360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React schedules a re-render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437376" y="470916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component runs again. React ignores the </a:t>
            </a: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useState(0)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and remembers </a:t>
            </a: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count = 1</a:t>
            </a: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9061704" y="3840480"/>
            <a:ext cx="2624328" cy="1965960"/>
          </a:xfrm>
          <a:prstGeom prst="roundRect">
            <a:avLst>
              <a:gd fmla="val 6511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9217152" y="402336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9793224" y="4023360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UI updates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9290304" y="470916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screen now shows "Count: 1".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Updating Objects and Arrays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Never change state directly. Replace it.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502920" y="1783080"/>
            <a:ext cx="11183112" cy="566928"/>
          </a:xfrm>
          <a:prstGeom prst="roundRect">
            <a:avLst>
              <a:gd fmla="val 22580" name="adj"/>
            </a:avLst>
          </a:prstGeom>
          <a:solidFill>
            <a:srgbClr val="2A3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758952" y="1865375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ock.png" id="302" name="Google Shape;3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465" y="1953889"/>
            <a:ext cx="225308" cy="2253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 txBox="1"/>
          <p:nvPr/>
        </p:nvSpPr>
        <p:spPr>
          <a:xfrm>
            <a:off x="1417320" y="1783080"/>
            <a:ext cx="99943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F5C065"/>
                </a:solidFill>
                <a:latin typeface="Arial"/>
                <a:ea typeface="Arial"/>
                <a:cs typeface="Arial"/>
                <a:sym typeface="Arial"/>
              </a:rPr>
              <a:t>React state is immutable. </a:t>
            </a:r>
            <a:r>
              <a:rPr b="0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new object or array instead of modifying the old one.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502920" y="2514600"/>
            <a:ext cx="5454396" cy="3291840"/>
          </a:xfrm>
          <a:prstGeom prst="roundRect">
            <a:avLst>
              <a:gd fmla="val 4444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777240" y="2606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777240" y="3081528"/>
            <a:ext cx="4905756" cy="1005840"/>
          </a:xfrm>
          <a:prstGeom prst="roundRect">
            <a:avLst>
              <a:gd fmla="val 12727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960120" y="3264408"/>
            <a:ext cx="45399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[user, setUser] = </a:t>
            </a:r>
            <a:r>
              <a:rPr b="0" i="0" lang="en-PH" sz="12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name: </a:t>
            </a:r>
            <a:r>
              <a:rPr b="0" i="0" lang="en-PH" sz="1200" u="none" cap="none" strike="noStrike">
                <a:solidFill>
                  <a:srgbClr val="A5E887"/>
                </a:solidFill>
                <a:latin typeface="Courier New"/>
                <a:ea typeface="Courier New"/>
                <a:cs typeface="Courier New"/>
                <a:sym typeface="Courier New"/>
              </a:rPr>
              <a:t>"Ian"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age: </a:t>
            </a:r>
            <a:r>
              <a:rPr b="0" i="0" lang="en-PH" sz="12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777240" y="4197096"/>
            <a:ext cx="292608" cy="292608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X.png" id="309" name="Google Shape;3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613" y="4261469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 txBox="1"/>
          <p:nvPr/>
        </p:nvSpPr>
        <p:spPr>
          <a:xfrm>
            <a:off x="1161288" y="4206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Wrong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777240" y="4572000"/>
            <a:ext cx="1965960" cy="548640"/>
          </a:xfrm>
          <a:prstGeom prst="roundRect">
            <a:avLst>
              <a:gd fmla="val 23333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960120" y="4754880"/>
            <a:ext cx="1600200" cy="27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user.age = </a:t>
            </a:r>
            <a:r>
              <a:rPr b="0" i="0" lang="en-PH" sz="13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b="0" i="0" lang="en-PH" sz="13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2971800" y="4197096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314" name="Google Shape;3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6173" y="4261469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3355848" y="42062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Correct</a:t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2971800" y="4572000"/>
            <a:ext cx="2711196" cy="1024128"/>
          </a:xfrm>
          <a:prstGeom prst="roundRect">
            <a:avLst>
              <a:gd fmla="val 125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3154680" y="4754880"/>
            <a:ext cx="2345436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setUser({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...user,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age: </a:t>
            </a:r>
            <a:r>
              <a:rPr b="0" i="0" lang="en-PH" sz="12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6231636" y="2514600"/>
            <a:ext cx="5454396" cy="3291840"/>
          </a:xfrm>
          <a:prstGeom prst="roundRect">
            <a:avLst>
              <a:gd fmla="val 4444" name="adj"/>
            </a:avLst>
          </a:prstGeom>
          <a:solidFill>
            <a:srgbClr val="ED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6505955" y="2606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6505955" y="3081528"/>
            <a:ext cx="4905756" cy="457200"/>
          </a:xfrm>
          <a:prstGeom prst="roundRect">
            <a:avLst>
              <a:gd fmla="val 280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6661403" y="3236976"/>
            <a:ext cx="4594860" cy="21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[students, setStudents] = </a:t>
            </a:r>
            <a:r>
              <a:rPr b="0" i="0" lang="en-PH" sz="1200" u="none" cap="none" strike="noStrike">
                <a:solidFill>
                  <a:srgbClr val="F5C065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([]);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6505955" y="3611880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323" name="Google Shape;3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0329" y="3676253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6890003" y="36210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Add item</a:t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6505955" y="3959352"/>
            <a:ext cx="4905756" cy="457200"/>
          </a:xfrm>
          <a:prstGeom prst="roundRect">
            <a:avLst>
              <a:gd fmla="val 280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6661403" y="4114800"/>
            <a:ext cx="4594860" cy="21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setStudents([...students, </a:t>
            </a:r>
            <a:r>
              <a:rPr b="0" i="0" lang="en-PH" sz="1200" u="none" cap="none" strike="noStrike">
                <a:solidFill>
                  <a:srgbClr val="A5E887"/>
                </a:solidFill>
                <a:latin typeface="Courier New"/>
                <a:ea typeface="Courier New"/>
                <a:cs typeface="Courier New"/>
                <a:sym typeface="Courier New"/>
              </a:rPr>
              <a:t>"Gabriel"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6505955" y="4517136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328" name="Google Shape;3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0329" y="4581509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6890003" y="4526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Remove item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6505955" y="4864608"/>
            <a:ext cx="4905756" cy="822960"/>
          </a:xfrm>
          <a:prstGeom prst="roundRect">
            <a:avLst>
              <a:gd fmla="val 15555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6661403" y="5020056"/>
            <a:ext cx="45948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setStudents(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 students.filter(name </a:t>
            </a:r>
            <a:r>
              <a:rPr b="0" i="0" lang="en-PH" sz="12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name !== </a:t>
            </a:r>
            <a:r>
              <a:rPr b="0" i="0" lang="en-PH" sz="1200" u="none" cap="none" strike="noStrike">
                <a:solidFill>
                  <a:srgbClr val="A5E887"/>
                </a:solidFill>
                <a:latin typeface="Courier New"/>
                <a:ea typeface="Courier New"/>
                <a:cs typeface="Courier New"/>
                <a:sym typeface="Courier New"/>
              </a:rPr>
              <a:t>"Gabriel"</a:t>
            </a: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2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344170" y="543560"/>
            <a:ext cx="11338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Functional Updates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447040" y="1160133"/>
            <a:ext cx="111556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The recommended way to update from the previous value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02920" y="1783080"/>
            <a:ext cx="4480560" cy="1554480"/>
          </a:xfrm>
          <a:prstGeom prst="roundRect">
            <a:avLst>
              <a:gd fmla="val 9411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722376" y="1938528"/>
            <a:ext cx="384048" cy="384048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X.png" id="342" name="Google Shape;3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866" y="2023018"/>
            <a:ext cx="215066" cy="21506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3"/>
          <p:cNvSpPr txBox="1"/>
          <p:nvPr/>
        </p:nvSpPr>
        <p:spPr>
          <a:xfrm>
            <a:off x="1234440" y="19476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Instead of</a:t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777240" y="2487168"/>
            <a:ext cx="3931920" cy="640080"/>
          </a:xfrm>
          <a:prstGeom prst="roundRect">
            <a:avLst>
              <a:gd fmla="val 200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1005840" y="27157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8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setCount(count + </a:t>
            </a:r>
            <a:r>
              <a:rPr b="0" i="0" lang="en-PH" sz="18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8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5093208" y="2395727"/>
            <a:ext cx="27432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5486400" y="1783080"/>
            <a:ext cx="6199632" cy="1554480"/>
          </a:xfrm>
          <a:prstGeom prst="roundRect">
            <a:avLst>
              <a:gd fmla="val 9411" name="adj"/>
            </a:avLst>
          </a:prstGeom>
          <a:solidFill>
            <a:srgbClr val="E3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5705856" y="1938528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349" name="Google Shape;3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0346" y="2023018"/>
            <a:ext cx="215066" cy="21506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 txBox="1"/>
          <p:nvPr/>
        </p:nvSpPr>
        <p:spPr>
          <a:xfrm>
            <a:off x="6217920" y="19476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6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6766560" y="1965960"/>
            <a:ext cx="1508760" cy="329184"/>
          </a:xfrm>
          <a:prstGeom prst="roundRect">
            <a:avLst>
              <a:gd fmla="val 50000" name="adj"/>
            </a:avLst>
          </a:prstGeom>
          <a:solidFill>
            <a:srgbClr val="F5C06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141B4D"/>
                </a:solidFill>
                <a:latin typeface="Arial"/>
                <a:ea typeface="Arial"/>
                <a:cs typeface="Arial"/>
                <a:sym typeface="Arial"/>
              </a:rPr>
              <a:t>Recommended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5760720" y="2487168"/>
            <a:ext cx="5650992" cy="640080"/>
          </a:xfrm>
          <a:prstGeom prst="roundRect">
            <a:avLst>
              <a:gd fmla="val 2000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5989320" y="2715768"/>
            <a:ext cx="5193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8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setCount(prevCount </a:t>
            </a:r>
            <a:r>
              <a:rPr b="0" i="0" lang="en-PH" sz="18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8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prevCount + </a:t>
            </a:r>
            <a:r>
              <a:rPr b="0" i="0" lang="en-PH" sz="18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8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502920" y="3520440"/>
            <a:ext cx="11183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8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Why? It avoids stale values when several updates happen together.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02920" y="3977639"/>
            <a:ext cx="4480560" cy="1783080"/>
          </a:xfrm>
          <a:prstGeom prst="roundRect">
            <a:avLst>
              <a:gd fmla="val 8205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777240" y="40873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Two updates in one click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777240" y="4416552"/>
            <a:ext cx="3931920" cy="777240"/>
          </a:xfrm>
          <a:prstGeom prst="roundRect">
            <a:avLst>
              <a:gd fmla="val 1647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1005840" y="464515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setCount(count + </a:t>
            </a:r>
            <a:r>
              <a:rPr b="0" i="0" lang="en-PH" sz="14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setCount(count + </a:t>
            </a:r>
            <a:r>
              <a:rPr b="0" i="0" lang="en-PH" sz="14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777240" y="5294376"/>
            <a:ext cx="292608" cy="292608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X.png" id="360" name="Google Shape;3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13" y="5358749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3"/>
          <p:cNvSpPr txBox="1"/>
          <p:nvPr/>
        </p:nvSpPr>
        <p:spPr>
          <a:xfrm>
            <a:off x="1188720" y="527608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count 0 → 1: both read the old count.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5486400" y="3977639"/>
            <a:ext cx="6199632" cy="1783080"/>
          </a:xfrm>
          <a:prstGeom prst="roundRect">
            <a:avLst>
              <a:gd fmla="val 8205" name="adj"/>
            </a:avLst>
          </a:prstGeom>
          <a:solidFill>
            <a:srgbClr val="E3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5760720" y="4087368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Two updates in one click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5760720" y="4416552"/>
            <a:ext cx="5650992" cy="777240"/>
          </a:xfrm>
          <a:prstGeom prst="roundRect">
            <a:avLst>
              <a:gd fmla="val 16470" name="adj"/>
            </a:avLst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5989320" y="4645152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setCount(prevCount </a:t>
            </a:r>
            <a:r>
              <a:rPr b="0" i="0" lang="en-PH" sz="14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prevCount + </a:t>
            </a:r>
            <a:r>
              <a:rPr b="0" i="0" lang="en-PH" sz="14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setCount(prevCount </a:t>
            </a:r>
            <a:r>
              <a:rPr b="0" i="0" lang="en-PH" sz="1400" u="none" cap="none" strike="noStrike">
                <a:solidFill>
                  <a:srgbClr val="C4A5FF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 prevCount + </a:t>
            </a:r>
            <a:r>
              <a:rPr b="0" i="0" lang="en-PH" sz="1400" u="none" cap="none" strike="noStrike">
                <a:solidFill>
                  <a:srgbClr val="FFB36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PH" sz="1400" u="none" cap="none" strike="noStrike">
                <a:solidFill>
                  <a:srgbClr val="E6EA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5760720" y="5294376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Check.png" id="367" name="Google Shape;3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5093" y="5358749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3"/>
          <p:cNvSpPr txBox="1"/>
          <p:nvPr/>
        </p:nvSpPr>
        <p:spPr>
          <a:xfrm>
            <a:off x="6172200" y="5276088"/>
            <a:ext cx="52852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count 0 → 2: each update uses the latest value.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useEffect(): Purpose and Syntax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Hook 2 — Side Effects After Render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457200" y="1417320"/>
            <a:ext cx="5623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What it does: </a:t>
            </a:r>
            <a:r>
              <a:rPr b="0" i="0" lang="en-PH" sz="14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performs side effects — anything outside rendering the UI.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502920" y="2194560"/>
            <a:ext cx="310896" cy="310896"/>
          </a:xfrm>
          <a:prstGeom prst="ellipse">
            <a:avLst/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960120" y="213969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Fetch API data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502920" y="2697480"/>
            <a:ext cx="310896" cy="310896"/>
          </a:xfrm>
          <a:prstGeom prst="ellipse">
            <a:avLst/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960120" y="264261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Start timers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02920" y="3200400"/>
            <a:ext cx="310896" cy="310896"/>
          </a:xfrm>
          <a:prstGeom prst="ellipse">
            <a:avLst/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960120" y="31455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Listen for keyboard events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502920" y="3703320"/>
            <a:ext cx="310896" cy="310896"/>
          </a:xfrm>
          <a:prstGeom prst="ellipse">
            <a:avLst/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960120" y="36484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Update the document title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502920" y="4206240"/>
            <a:ext cx="310896" cy="310896"/>
          </a:xfrm>
          <a:prstGeom prst="ellipse">
            <a:avLst/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960120" y="415137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Connect a WebSocket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6464808" y="154533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Syntax skeleton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6464808" y="1819656"/>
            <a:ext cx="4992624" cy="396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// effect code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return 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// cleanup code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[dependencies]);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11475720" y="60990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PH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useEffect Example 1 — Runs Once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Mount-Only Effect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457200" y="1463040"/>
            <a:ext cx="5212080" cy="1828800"/>
          </a:xfrm>
          <a:prstGeom prst="roundRect">
            <a:avLst>
              <a:gd fmla="val 4000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658368" y="1591056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App.jsx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658368" y="1865376"/>
            <a:ext cx="4809744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console.log("Component Mounted");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457200" y="3520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Dependency array: </a:t>
            </a: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457200" y="38404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PH" sz="13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Meaning: runs only after the first render.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457200" y="4297680"/>
            <a:ext cx="4206240" cy="384048"/>
          </a:xfrm>
          <a:prstGeom prst="roundRect">
            <a:avLst>
              <a:gd fmla="val 14286" name="adj"/>
            </a:avLst>
          </a:prstGeom>
          <a:solidFill>
            <a:srgbClr val="EFEA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530352" y="4297680"/>
            <a:ext cx="4059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PH" sz="1100" u="none" cap="none" strike="noStrike">
                <a:solidFill>
                  <a:srgbClr val="5B3E9E"/>
                </a:solidFill>
                <a:latin typeface="Arial"/>
                <a:ea typeface="Arial"/>
                <a:cs typeface="Arial"/>
                <a:sym typeface="Arial"/>
              </a:rPr>
              <a:t>Equivalent to: ComponentDidMount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903720" y="1417320"/>
            <a:ext cx="4846320" cy="658368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7040880" y="141732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renders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25"/>
          <p:cNvCxnSpPr/>
          <p:nvPr/>
        </p:nvCxnSpPr>
        <p:spPr>
          <a:xfrm>
            <a:off x="9326880" y="2075688"/>
            <a:ext cx="0" cy="274320"/>
          </a:xfrm>
          <a:prstGeom prst="straightConnector1">
            <a:avLst/>
          </a:prstGeom>
          <a:noFill/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5"/>
          <p:cNvSpPr/>
          <p:nvPr/>
        </p:nvSpPr>
        <p:spPr>
          <a:xfrm rot="10800000">
            <a:off x="9262872" y="2331720"/>
            <a:ext cx="128016" cy="109728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6903720" y="2441448"/>
            <a:ext cx="4846320" cy="658368"/>
          </a:xfrm>
          <a:prstGeom prst="roundRect">
            <a:avLst>
              <a:gd fmla="val 12500" name="adj"/>
            </a:avLst>
          </a:prstGeom>
          <a:solidFill>
            <a:srgbClr val="0092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7040880" y="2441448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appears on screen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5"/>
          <p:cNvCxnSpPr/>
          <p:nvPr/>
        </p:nvCxnSpPr>
        <p:spPr>
          <a:xfrm>
            <a:off x="9326880" y="3099816"/>
            <a:ext cx="0" cy="274320"/>
          </a:xfrm>
          <a:prstGeom prst="straightConnector1">
            <a:avLst/>
          </a:prstGeom>
          <a:noFill/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25"/>
          <p:cNvSpPr/>
          <p:nvPr/>
        </p:nvSpPr>
        <p:spPr>
          <a:xfrm rot="10800000">
            <a:off x="9262872" y="3355848"/>
            <a:ext cx="128016" cy="109728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6903720" y="3465576"/>
            <a:ext cx="4846320" cy="822960"/>
          </a:xfrm>
          <a:prstGeom prst="roundRect">
            <a:avLst>
              <a:gd fmla="val 10000" name="adj"/>
            </a:avLst>
          </a:prstGeom>
          <a:solidFill>
            <a:srgbClr val="C2570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5"/>
          <p:cNvSpPr txBox="1"/>
          <p:nvPr/>
        </p:nvSpPr>
        <p:spPr>
          <a:xfrm>
            <a:off x="7040880" y="3465576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useEffect executes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PH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console.log("Component Mounted")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7818120" y="64190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useEffect Example 2 — Watching State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6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Re-Running When a Dependency Changes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457200" y="1463040"/>
            <a:ext cx="5486400" cy="3200400"/>
          </a:xfrm>
          <a:prstGeom prst="roundRect">
            <a:avLst>
              <a:gd fmla="val 2286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658368" y="1591056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Counter.jsx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6"/>
          <p:cNvSpPr txBox="1"/>
          <p:nvPr/>
        </p:nvSpPr>
        <p:spPr>
          <a:xfrm>
            <a:off x="658368" y="1865376"/>
            <a:ext cx="5084064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const [count, setCount] = useState(0);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console.log("Count changed:", count);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[count]);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onClick={() =&gt; setCount(count + 1)}&gt;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{count}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&lt;/button&gt;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6"/>
          <p:cNvSpPr txBox="1"/>
          <p:nvPr/>
        </p:nvSpPr>
        <p:spPr>
          <a:xfrm>
            <a:off x="6263640" y="14630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Every time count changes, the effect runs again: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6263640" y="1920240"/>
            <a:ext cx="5394960" cy="1554480"/>
          </a:xfrm>
          <a:prstGeom prst="roundRect">
            <a:avLst>
              <a:gd fmla="val 4706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6464808" y="20482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6464808" y="2322576"/>
            <a:ext cx="4992624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Count changed: 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Count changed: 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Count changed: 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6"/>
          <p:cNvSpPr txBox="1"/>
          <p:nvPr/>
        </p:nvSpPr>
        <p:spPr>
          <a:xfrm>
            <a:off x="6263640" y="3703320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Key idea: </a:t>
            </a: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listing count in the dependency array tells React “re-run this effect whenever count changes.”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377b023b7288c0df_0_0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useEffect Example 3 — Fetching API Data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h377b023b7288c0df_0_0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Users.jsx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377b023b7288c0df_0_0"/>
          <p:cNvSpPr/>
          <p:nvPr/>
        </p:nvSpPr>
        <p:spPr>
          <a:xfrm>
            <a:off x="457200" y="146304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h377b023b7288c0df_0_0"/>
          <p:cNvSpPr txBox="1"/>
          <p:nvPr/>
        </p:nvSpPr>
        <p:spPr>
          <a:xfrm>
            <a:off x="658368" y="1591056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Users.jsx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h377b023b7288c0df_0_0"/>
          <p:cNvSpPr txBox="1"/>
          <p:nvPr/>
        </p:nvSpPr>
        <p:spPr>
          <a:xfrm>
            <a:off x="658368" y="1865376"/>
            <a:ext cx="5084064" cy="3419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const [users, setUsers] = useState([]);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fetch("https://.../users")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.then(res =&gt; res.json())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.then(data =&gt; setUsers(data));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{users.map(user =&gt; (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  &lt;li key={user.id}&gt;{user.name}&lt;/li&gt;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))}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h377b023b7288c0df_0_0"/>
          <p:cNvSpPr/>
          <p:nvPr/>
        </p:nvSpPr>
        <p:spPr>
          <a:xfrm>
            <a:off x="6355080" y="1600200"/>
            <a:ext cx="5349240" cy="749808"/>
          </a:xfrm>
          <a:prstGeom prst="roundRect">
            <a:avLst>
              <a:gd fmla="val 10976" name="adj"/>
            </a:avLst>
          </a:prstGeom>
          <a:solidFill>
            <a:srgbClr val="E8EE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h377b023b7288c0df_0_0"/>
          <p:cNvSpPr/>
          <p:nvPr/>
        </p:nvSpPr>
        <p:spPr>
          <a:xfrm>
            <a:off x="6519672" y="176479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h377b023b7288c0df_0_0"/>
          <p:cNvSpPr txBox="1"/>
          <p:nvPr/>
        </p:nvSpPr>
        <p:spPr>
          <a:xfrm>
            <a:off x="6519672" y="1764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h377b023b7288c0df_0_0"/>
          <p:cNvSpPr txBox="1"/>
          <p:nvPr/>
        </p:nvSpPr>
        <p:spPr>
          <a:xfrm>
            <a:off x="7086600" y="1600200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Component renders an empty list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h377b023b7288c0df_0_0"/>
          <p:cNvCxnSpPr/>
          <p:nvPr/>
        </p:nvCxnSpPr>
        <p:spPr>
          <a:xfrm>
            <a:off x="6729984" y="2350008"/>
            <a:ext cx="0" cy="118872"/>
          </a:xfrm>
          <a:prstGeom prst="straightConnector1">
            <a:avLst/>
          </a:prstGeom>
          <a:noFill/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h377b023b7288c0df_0_0"/>
          <p:cNvSpPr/>
          <p:nvPr/>
        </p:nvSpPr>
        <p:spPr>
          <a:xfrm rot="10800000">
            <a:off x="6665976" y="2450592"/>
            <a:ext cx="128016" cy="109728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377b023b7288c0df_0_0"/>
          <p:cNvSpPr/>
          <p:nvPr/>
        </p:nvSpPr>
        <p:spPr>
          <a:xfrm>
            <a:off x="6355080" y="2560320"/>
            <a:ext cx="5349240" cy="749808"/>
          </a:xfrm>
          <a:prstGeom prst="roundRect">
            <a:avLst>
              <a:gd fmla="val 10976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h377b023b7288c0df_0_0"/>
          <p:cNvSpPr/>
          <p:nvPr/>
        </p:nvSpPr>
        <p:spPr>
          <a:xfrm>
            <a:off x="6519672" y="2724912"/>
            <a:ext cx="420624" cy="420624"/>
          </a:xfrm>
          <a:prstGeom prst="ellipse">
            <a:avLst/>
          </a:prstGeom>
          <a:solidFill>
            <a:srgbClr val="0092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h377b023b7288c0df_0_0"/>
          <p:cNvSpPr txBox="1"/>
          <p:nvPr/>
        </p:nvSpPr>
        <p:spPr>
          <a:xfrm>
            <a:off x="6519672" y="27249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h377b023b7288c0df_0_0"/>
          <p:cNvSpPr txBox="1"/>
          <p:nvPr/>
        </p:nvSpPr>
        <p:spPr>
          <a:xfrm>
            <a:off x="7086600" y="2560320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useEffect() fetches the API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h377b023b7288c0df_0_0"/>
          <p:cNvCxnSpPr/>
          <p:nvPr/>
        </p:nvCxnSpPr>
        <p:spPr>
          <a:xfrm>
            <a:off x="6729984" y="3310128"/>
            <a:ext cx="0" cy="118872"/>
          </a:xfrm>
          <a:prstGeom prst="straightConnector1">
            <a:avLst/>
          </a:prstGeom>
          <a:noFill/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h377b023b7288c0df_0_0"/>
          <p:cNvSpPr/>
          <p:nvPr/>
        </p:nvSpPr>
        <p:spPr>
          <a:xfrm rot="10800000">
            <a:off x="6665976" y="3410712"/>
            <a:ext cx="128016" cy="109728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h377b023b7288c0df_0_0"/>
          <p:cNvSpPr/>
          <p:nvPr/>
        </p:nvSpPr>
        <p:spPr>
          <a:xfrm>
            <a:off x="6355080" y="3520440"/>
            <a:ext cx="5349240" cy="749808"/>
          </a:xfrm>
          <a:prstGeom prst="roundRect">
            <a:avLst>
              <a:gd fmla="val 10976" name="adj"/>
            </a:avLst>
          </a:prstGeom>
          <a:solidFill>
            <a:srgbClr val="E8EE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377b023b7288c0df_0_0"/>
          <p:cNvSpPr/>
          <p:nvPr/>
        </p:nvSpPr>
        <p:spPr>
          <a:xfrm>
            <a:off x="6519672" y="368503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377b023b7288c0df_0_0"/>
          <p:cNvSpPr txBox="1"/>
          <p:nvPr/>
        </p:nvSpPr>
        <p:spPr>
          <a:xfrm>
            <a:off x="6519672" y="36850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h377b023b7288c0df_0_0"/>
          <p:cNvSpPr txBox="1"/>
          <p:nvPr/>
        </p:nvSpPr>
        <p:spPr>
          <a:xfrm>
            <a:off x="7086600" y="3520440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setUsers(data) updates state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h377b023b7288c0df_0_0"/>
          <p:cNvCxnSpPr/>
          <p:nvPr/>
        </p:nvCxnSpPr>
        <p:spPr>
          <a:xfrm>
            <a:off x="6729984" y="4270248"/>
            <a:ext cx="0" cy="118872"/>
          </a:xfrm>
          <a:prstGeom prst="straightConnector1">
            <a:avLst/>
          </a:prstGeom>
          <a:noFill/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h377b023b7288c0df_0_0"/>
          <p:cNvSpPr/>
          <p:nvPr/>
        </p:nvSpPr>
        <p:spPr>
          <a:xfrm rot="10800000">
            <a:off x="6665976" y="4370832"/>
            <a:ext cx="128016" cy="109728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h377b023b7288c0df_0_0"/>
          <p:cNvSpPr/>
          <p:nvPr/>
        </p:nvSpPr>
        <p:spPr>
          <a:xfrm>
            <a:off x="6355080" y="4480560"/>
            <a:ext cx="5349240" cy="749808"/>
          </a:xfrm>
          <a:prstGeom prst="roundRect">
            <a:avLst>
              <a:gd fmla="val 10976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h377b023b7288c0df_0_0"/>
          <p:cNvSpPr/>
          <p:nvPr/>
        </p:nvSpPr>
        <p:spPr>
          <a:xfrm>
            <a:off x="6519672" y="4645152"/>
            <a:ext cx="420624" cy="420624"/>
          </a:xfrm>
          <a:prstGeom prst="ellipse">
            <a:avLst/>
          </a:prstGeom>
          <a:solidFill>
            <a:srgbClr val="0092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h377b023b7288c0df_0_0"/>
          <p:cNvSpPr txBox="1"/>
          <p:nvPr/>
        </p:nvSpPr>
        <p:spPr>
          <a:xfrm>
            <a:off x="6519672" y="4645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h377b023b7288c0df_0_0"/>
          <p:cNvSpPr txBox="1"/>
          <p:nvPr/>
        </p:nvSpPr>
        <p:spPr>
          <a:xfrm>
            <a:off x="7086600" y="4480560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Component renders the list of users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377b023b7288c0df_0_0"/>
          <p:cNvSpPr txBox="1"/>
          <p:nvPr/>
        </p:nvSpPr>
        <p:spPr>
          <a:xfrm>
            <a:off x="7818120" y="64190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h377b023b7288c0df_0_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h377b023b7288c0df_0_0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useEffect Example 4 — Cleanup Function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Timer.jsx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457200" y="1463040"/>
            <a:ext cx="5852160" cy="3017520"/>
          </a:xfrm>
          <a:prstGeom prst="roundRect">
            <a:avLst>
              <a:gd fmla="val 2424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658368" y="159105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Timer.jsx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658368" y="1865376"/>
            <a:ext cx="5449824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const timer = setInterval(()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console.log("Tick");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}, 1000);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return 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clearInterval(timer);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console.log("Timer cleaned.");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653796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Cleanup runs when: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6537960" y="2057400"/>
            <a:ext cx="5120640" cy="1051560"/>
          </a:xfrm>
          <a:prstGeom prst="roundRect">
            <a:avLst>
              <a:gd fmla="val 8696" name="adj"/>
            </a:avLst>
          </a:prstGeom>
          <a:solidFill>
            <a:srgbClr val="E8EE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 txBox="1"/>
          <p:nvPr/>
        </p:nvSpPr>
        <p:spPr>
          <a:xfrm>
            <a:off x="6766560" y="214884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Component unmounts</a:t>
            </a:r>
            <a:br>
              <a:rPr b="1" i="0" lang="en-PH" sz="14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The component is removed from the screen entirely.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6537960" y="3291840"/>
            <a:ext cx="5120640" cy="1051560"/>
          </a:xfrm>
          <a:prstGeom prst="roundRect">
            <a:avLst>
              <a:gd fmla="val 8696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 txBox="1"/>
          <p:nvPr/>
        </p:nvSpPr>
        <p:spPr>
          <a:xfrm>
            <a:off x="6766560" y="338328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Effect runs again</a:t>
            </a:r>
            <a:br>
              <a:rPr b="1" i="0" lang="en-PH" sz="14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Before the next effect fires, React cleans up the previous one first.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Dependency Array Explained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What Controls When an Effect Re-Runs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6" name="Google Shape;496;p28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4206250"/>
                <a:gridCol w="70408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PH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Dependency array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PH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Runs when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useEffect(fn)</a:t>
                      </a:r>
                      <a:endParaRPr sz="15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render.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useEffect(fn, [])</a:t>
                      </a:r>
                      <a:endParaRPr sz="15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on the first render.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useEffect(fn, [count])</a:t>
                      </a:r>
                      <a:endParaRPr sz="15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render, plus whenever count changes.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useEffect(fn, [count, user])</a:t>
                      </a:r>
                      <a:endParaRPr sz="15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PH" sz="15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render, plus whenever count or user changes.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7" name="Google Shape;497;p28"/>
          <p:cNvSpPr/>
          <p:nvPr/>
        </p:nvSpPr>
        <p:spPr>
          <a:xfrm>
            <a:off x="457200" y="4663440"/>
            <a:ext cx="11247120" cy="868680"/>
          </a:xfrm>
          <a:prstGeom prst="roundRect">
            <a:avLst>
              <a:gd fmla="val 9474" name="adj"/>
            </a:avLst>
          </a:prstGeom>
          <a:solidFill>
            <a:srgbClr val="E8EE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685800" y="4663440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Rule of thumb: </a:t>
            </a:r>
            <a:r>
              <a:rPr b="0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React compares each value in the dependency array to its previous render. If any value is different, the effect runs again.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Pitfall — The Infinite Loop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Forgetting the Dependency Array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Wrong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457200" y="1783080"/>
            <a:ext cx="3749040" cy="1417320"/>
          </a:xfrm>
          <a:prstGeom prst="roundRect">
            <a:avLst>
              <a:gd fmla="val 5161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658368" y="1911096"/>
            <a:ext cx="3346704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setCount(count + 1);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457200" y="3429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457200" y="3794760"/>
            <a:ext cx="3749040" cy="1417320"/>
          </a:xfrm>
          <a:prstGeom prst="roundRect">
            <a:avLst>
              <a:gd fmla="val 5161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658368" y="3922776"/>
            <a:ext cx="3346704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setCount(1);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29"/>
          <p:cNvCxnSpPr/>
          <p:nvPr/>
        </p:nvCxnSpPr>
        <p:spPr>
          <a:xfrm>
            <a:off x="8138160" y="2103120"/>
            <a:ext cx="1417320" cy="1417320"/>
          </a:xfrm>
          <a:prstGeom prst="straightConnector1">
            <a:avLst/>
          </a:prstGeom>
          <a:noFill/>
          <a:ln cap="flat" cmpd="sng" w="25400">
            <a:solidFill>
              <a:srgbClr val="B326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5" name="Google Shape;515;p29"/>
          <p:cNvSpPr/>
          <p:nvPr/>
        </p:nvSpPr>
        <p:spPr>
          <a:xfrm rot="8100000">
            <a:off x="8934602" y="2899562"/>
            <a:ext cx="164592" cy="164592"/>
          </a:xfrm>
          <a:prstGeom prst="triangle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29"/>
          <p:cNvCxnSpPr/>
          <p:nvPr/>
        </p:nvCxnSpPr>
        <p:spPr>
          <a:xfrm flipH="1">
            <a:off x="8138160" y="3520440"/>
            <a:ext cx="1417320" cy="1417320"/>
          </a:xfrm>
          <a:prstGeom prst="straightConnector1">
            <a:avLst/>
          </a:prstGeom>
          <a:noFill/>
          <a:ln cap="flat" cmpd="sng" w="25400">
            <a:solidFill>
              <a:srgbClr val="B326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29"/>
          <p:cNvSpPr/>
          <p:nvPr/>
        </p:nvSpPr>
        <p:spPr>
          <a:xfrm rot="-8100000">
            <a:off x="8594446" y="4316882"/>
            <a:ext cx="164592" cy="164592"/>
          </a:xfrm>
          <a:prstGeom prst="triangle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29"/>
          <p:cNvCxnSpPr/>
          <p:nvPr/>
        </p:nvCxnSpPr>
        <p:spPr>
          <a:xfrm rot="10800000">
            <a:off x="6720840" y="3520440"/>
            <a:ext cx="1417320" cy="1417320"/>
          </a:xfrm>
          <a:prstGeom prst="straightConnector1">
            <a:avLst/>
          </a:prstGeom>
          <a:noFill/>
          <a:ln cap="flat" cmpd="sng" w="25400">
            <a:solidFill>
              <a:srgbClr val="B326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29"/>
          <p:cNvSpPr/>
          <p:nvPr/>
        </p:nvSpPr>
        <p:spPr>
          <a:xfrm rot="-2700000">
            <a:off x="7177126" y="3976726"/>
            <a:ext cx="164592" cy="164592"/>
          </a:xfrm>
          <a:prstGeom prst="triangle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29"/>
          <p:cNvCxnSpPr/>
          <p:nvPr/>
        </p:nvCxnSpPr>
        <p:spPr>
          <a:xfrm flipH="1" rot="10800000">
            <a:off x="6720840" y="2103120"/>
            <a:ext cx="1417320" cy="1417320"/>
          </a:xfrm>
          <a:prstGeom prst="straightConnector1">
            <a:avLst/>
          </a:prstGeom>
          <a:noFill/>
          <a:ln cap="flat" cmpd="sng" w="25400">
            <a:solidFill>
              <a:srgbClr val="B326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1" name="Google Shape;521;p29"/>
          <p:cNvSpPr/>
          <p:nvPr/>
        </p:nvSpPr>
        <p:spPr>
          <a:xfrm rot="2700000">
            <a:off x="7517282" y="2559406"/>
            <a:ext cx="164592" cy="164592"/>
          </a:xfrm>
          <a:prstGeom prst="triangle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7292340" y="1819656"/>
            <a:ext cx="1691640" cy="566928"/>
          </a:xfrm>
          <a:prstGeom prst="roundRect">
            <a:avLst>
              <a:gd fmla="val 14516" name="adj"/>
            </a:avLst>
          </a:prstGeom>
          <a:solidFill>
            <a:srgbClr val="FBEAEA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7292340" y="181965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PH" sz="12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8709660" y="3236976"/>
            <a:ext cx="1691640" cy="566928"/>
          </a:xfrm>
          <a:prstGeom prst="roundRect">
            <a:avLst>
              <a:gd fmla="val 14516" name="adj"/>
            </a:avLst>
          </a:prstGeom>
          <a:solidFill>
            <a:srgbClr val="FBEAEA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8709660" y="323697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PH" sz="12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Effect runs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7292340" y="4654296"/>
            <a:ext cx="1691640" cy="566928"/>
          </a:xfrm>
          <a:prstGeom prst="roundRect">
            <a:avLst>
              <a:gd fmla="val 14516" name="adj"/>
            </a:avLst>
          </a:prstGeom>
          <a:solidFill>
            <a:srgbClr val="FBEAEA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9"/>
          <p:cNvSpPr txBox="1"/>
          <p:nvPr/>
        </p:nvSpPr>
        <p:spPr>
          <a:xfrm>
            <a:off x="7292340" y="465429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PH" sz="12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setCount()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5875020" y="3236976"/>
            <a:ext cx="1691640" cy="566928"/>
          </a:xfrm>
          <a:prstGeom prst="roundRect">
            <a:avLst>
              <a:gd fmla="val 14516" name="adj"/>
            </a:avLst>
          </a:prstGeom>
          <a:solidFill>
            <a:srgbClr val="FBEAEA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5875020" y="323697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PH" sz="12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Render again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7315200" y="33558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PH" sz="12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Forever…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6309360" y="525780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PH" sz="12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No dependency array = the effect re-runs after every render, and if it calls setState, that triggers another render — forever.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useRef(): Purpose and Syntax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Hook 3 — A Persistent, Silent Container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457200" y="141732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PH" sz="14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What it does: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PH" sz="14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stores a value that persists between renders without causing a re-render.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457200" y="2331720"/>
            <a:ext cx="5303520" cy="914400"/>
          </a:xfrm>
          <a:prstGeom prst="roundRect">
            <a:avLst>
              <a:gd fmla="val 10000" name="adj"/>
            </a:avLst>
          </a:prstGeom>
          <a:solidFill>
            <a:srgbClr val="EFEA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685800" y="233172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5B3E9E"/>
                </a:solidFill>
                <a:latin typeface="Arial"/>
                <a:ea typeface="Arial"/>
                <a:cs typeface="Arial"/>
                <a:sym typeface="Arial"/>
              </a:rPr>
              <a:t>Think of it as: </a:t>
            </a:r>
            <a:r>
              <a:rPr b="0" i="0" lang="en-PH" sz="130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a mutable box React ignores — change it, and nothing on screen re-draws.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502920" y="3520440"/>
            <a:ext cx="310896" cy="310896"/>
          </a:xfrm>
          <a:prstGeom prst="ellipse">
            <a:avLst/>
          </a:prstGeom>
          <a:solidFill>
            <a:srgbClr val="5B3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960120" y="346557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Focus an input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502920" y="4023360"/>
            <a:ext cx="310896" cy="310896"/>
          </a:xfrm>
          <a:prstGeom prst="ellipse">
            <a:avLst/>
          </a:prstGeom>
          <a:solidFill>
            <a:srgbClr val="5B3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960120" y="396849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Store an interval/timer ID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502920" y="4526280"/>
            <a:ext cx="310896" cy="310896"/>
          </a:xfrm>
          <a:prstGeom prst="ellipse">
            <a:avLst/>
          </a:prstGeom>
          <a:solidFill>
            <a:srgbClr val="5B3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0"/>
          <p:cNvSpPr txBox="1"/>
          <p:nvPr/>
        </p:nvSpPr>
        <p:spPr>
          <a:xfrm>
            <a:off x="960120" y="447141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Keep a previous value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502920" y="5029200"/>
            <a:ext cx="310896" cy="310896"/>
          </a:xfrm>
          <a:prstGeom prst="ellipse">
            <a:avLst/>
          </a:prstGeom>
          <a:solidFill>
            <a:srgbClr val="5B3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0"/>
          <p:cNvSpPr txBox="1"/>
          <p:nvPr/>
        </p:nvSpPr>
        <p:spPr>
          <a:xfrm>
            <a:off x="960120" y="49743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PH" sz="1350" u="none" cap="none" strike="noStrike">
                <a:solidFill>
                  <a:srgbClr val="27314A"/>
                </a:solidFill>
                <a:latin typeface="Arial"/>
                <a:ea typeface="Arial"/>
                <a:cs typeface="Arial"/>
                <a:sym typeface="Arial"/>
              </a:rPr>
              <a:t>Hold a mutable value across renders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0"/>
          <p:cNvSpPr/>
          <p:nvPr/>
        </p:nvSpPr>
        <p:spPr>
          <a:xfrm>
            <a:off x="6126480" y="1417320"/>
            <a:ext cx="5577840" cy="1371600"/>
          </a:xfrm>
          <a:prstGeom prst="roundRect">
            <a:avLst>
              <a:gd fmla="val 5333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6327648" y="1545336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Syntax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0"/>
          <p:cNvSpPr txBox="1"/>
          <p:nvPr/>
        </p:nvSpPr>
        <p:spPr>
          <a:xfrm>
            <a:off x="6327648" y="1819656"/>
            <a:ext cx="5175504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const myRef = useRef(initialValue);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0"/>
          <p:cNvSpPr/>
          <p:nvPr/>
        </p:nvSpPr>
        <p:spPr>
          <a:xfrm>
            <a:off x="6126480" y="2926080"/>
            <a:ext cx="5577840" cy="1188720"/>
          </a:xfrm>
          <a:prstGeom prst="roundRect">
            <a:avLst>
              <a:gd fmla="val 6154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0"/>
          <p:cNvSpPr txBox="1"/>
          <p:nvPr/>
        </p:nvSpPr>
        <p:spPr>
          <a:xfrm>
            <a:off x="6327648" y="3054096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6327648" y="3328416"/>
            <a:ext cx="517550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  current: initialValue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0"/>
          <p:cNvSpPr/>
          <p:nvPr/>
        </p:nvSpPr>
        <p:spPr>
          <a:xfrm>
            <a:off x="6126480" y="4251960"/>
            <a:ext cx="5577840" cy="1005840"/>
          </a:xfrm>
          <a:prstGeom prst="roundRect">
            <a:avLst>
              <a:gd fmla="val 7273" name="adj"/>
            </a:avLst>
          </a:prstGeom>
          <a:solidFill>
            <a:srgbClr val="1B2340"/>
          </a:solidFill>
          <a:ln>
            <a:noFill/>
          </a:ln>
          <a:effectLst>
            <a:outerShdw blurRad="762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0"/>
          <p:cNvSpPr txBox="1"/>
          <p:nvPr/>
        </p:nvSpPr>
        <p:spPr>
          <a:xfrm>
            <a:off x="6327648" y="4379976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PH" sz="1050" u="none" cap="none" strike="noStrike">
                <a:solidFill>
                  <a:srgbClr val="8FD3A8"/>
                </a:solidFill>
                <a:latin typeface="Courier New"/>
                <a:ea typeface="Courier New"/>
                <a:cs typeface="Courier New"/>
                <a:sym typeface="Courier New"/>
              </a:rPr>
              <a:t>Access the value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0"/>
          <p:cNvSpPr txBox="1"/>
          <p:nvPr/>
        </p:nvSpPr>
        <p:spPr>
          <a:xfrm>
            <a:off x="6327648" y="4654296"/>
            <a:ext cx="51755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CE6F5"/>
                </a:solidFill>
                <a:latin typeface="Courier New"/>
                <a:ea typeface="Courier New"/>
                <a:cs typeface="Courier New"/>
                <a:sym typeface="Courier New"/>
              </a:rPr>
              <a:t>myRef.current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0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1"/>
          <p:cNvSpPr txBox="1"/>
          <p:nvPr/>
        </p:nvSpPr>
        <p:spPr>
          <a:xfrm>
            <a:off x="365760" y="2926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useState vs. useRef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1"/>
          <p:cNvSpPr txBox="1"/>
          <p:nvPr/>
        </p:nvSpPr>
        <p:spPr>
          <a:xfrm>
            <a:off x="457200" y="89611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PH" sz="17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Same Job — Renders vs. Silence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1"/>
          <p:cNvSpPr/>
          <p:nvPr/>
        </p:nvSpPr>
        <p:spPr>
          <a:xfrm>
            <a:off x="548640" y="1371600"/>
            <a:ext cx="5257800" cy="2148840"/>
          </a:xfrm>
          <a:prstGeom prst="roundRect">
            <a:avLst>
              <a:gd fmla="val 510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548640" y="153619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1188720" y="2011680"/>
            <a:ext cx="3977640" cy="54864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1"/>
          <p:cNvSpPr txBox="1"/>
          <p:nvPr/>
        </p:nvSpPr>
        <p:spPr>
          <a:xfrm>
            <a:off x="1188720" y="201168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count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1"/>
          <p:cNvSpPr txBox="1"/>
          <p:nvPr/>
        </p:nvSpPr>
        <p:spPr>
          <a:xfrm>
            <a:off x="548640" y="2670048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PH" sz="1250" u="none" cap="none" strike="noStrike">
                <a:solidFill>
                  <a:srgbClr val="DBEAFE"/>
                </a:solidFill>
                <a:latin typeface="Courier New"/>
                <a:ea typeface="Courier New"/>
                <a:cs typeface="Courier New"/>
                <a:sym typeface="Courier New"/>
              </a:rPr>
              <a:t>setCount(6)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548640" y="306324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▼ Triggers Render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6355080" y="1371600"/>
            <a:ext cx="5257800" cy="2148840"/>
          </a:xfrm>
          <a:prstGeom prst="roundRect">
            <a:avLst>
              <a:gd fmla="val 5106" name="adj"/>
            </a:avLst>
          </a:prstGeom>
          <a:solidFill>
            <a:srgbClr val="0092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6355080" y="153619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useRef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6995160" y="2011680"/>
            <a:ext cx="3977640" cy="54864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"/>
          <p:cNvSpPr txBox="1"/>
          <p:nvPr/>
        </p:nvSpPr>
        <p:spPr>
          <a:xfrm>
            <a:off x="6995160" y="201168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009243"/>
                </a:solidFill>
                <a:latin typeface="Courier New"/>
                <a:ea typeface="Courier New"/>
                <a:cs typeface="Courier New"/>
                <a:sym typeface="Courier New"/>
              </a:rPr>
              <a:t>current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6355080" y="2670048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PH" sz="1250" u="none" cap="none" strike="noStrike">
                <a:solidFill>
                  <a:srgbClr val="DCFCE7"/>
                </a:solidFill>
                <a:latin typeface="Courier New"/>
                <a:ea typeface="Courier New"/>
                <a:cs typeface="Courier New"/>
                <a:sym typeface="Courier New"/>
              </a:rPr>
              <a:t>ref.current = 6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6355080" y="306324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■ No Render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2" name="Google Shape;582;p31"/>
          <p:cNvGraphicFramePr/>
          <p:nvPr/>
        </p:nvGraphicFramePr>
        <p:xfrm>
          <a:off x="548640" y="3703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3474725"/>
                <a:gridCol w="3794750"/>
                <a:gridCol w="37947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PH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PH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useState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PH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useRef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Stores data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Causes re-render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PH" sz="135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Yes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PH" sz="1350" u="none" cap="none" strike="noStrike">
                          <a:solidFill>
                            <a:srgbClr val="0092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No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it's mutated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PH" sz="12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Replace with the setter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PH" sz="120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Change .current directly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 reference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PH" sz="1350" u="none" cap="none" strike="noStrike">
                          <a:solidFill>
                            <a:srgbClr val="2731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0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3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1"/>
          <p:cNvSpPr txBox="1"/>
          <p:nvPr/>
        </p:nvSpPr>
        <p:spPr>
          <a:xfrm>
            <a:off x="8380384" y="6444476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useRef() Example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2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Focus an input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457200" y="1783080"/>
            <a:ext cx="5943600" cy="3849624"/>
          </a:xfrm>
          <a:prstGeom prst="roundRect">
            <a:avLst>
              <a:gd fmla="val 3500" name="adj"/>
            </a:avLst>
          </a:prstGeom>
          <a:solidFill>
            <a:srgbClr val="1B23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2"/>
          <p:cNvSpPr txBox="1"/>
          <p:nvPr/>
        </p:nvSpPr>
        <p:spPr>
          <a:xfrm>
            <a:off x="731520" y="19385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A9B4E8"/>
                </a:solidFill>
                <a:latin typeface="Arial"/>
                <a:ea typeface="Arial"/>
                <a:cs typeface="Arial"/>
                <a:sym typeface="Arial"/>
              </a:rPr>
              <a:t>Login.jsx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2"/>
          <p:cNvSpPr txBox="1"/>
          <p:nvPr/>
        </p:nvSpPr>
        <p:spPr>
          <a:xfrm>
            <a:off x="731520" y="2286000"/>
            <a:ext cx="5486400" cy="3282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b="1" i="0" lang="en-PH" sz="120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PH" sz="12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Login() {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inputRef = </a:t>
            </a:r>
            <a:r>
              <a:rPr b="1" i="0" lang="en-PH" sz="120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(null);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focusInput = () =&gt; {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inputRef.current.focus();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&lt;input ref={inputRef} placeholder=</a:t>
            </a:r>
            <a:r>
              <a:rPr b="0" i="0" lang="en-PH" sz="12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"Username"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onClick={focusInput}&gt;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  Focus Input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p32"/>
          <p:cNvSpPr txBox="1"/>
          <p:nvPr/>
        </p:nvSpPr>
        <p:spPr>
          <a:xfrm>
            <a:off x="6675120" y="178308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6675120" y="2286000"/>
            <a:ext cx="5056632" cy="8229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6858000" y="246888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 txBox="1"/>
          <p:nvPr/>
        </p:nvSpPr>
        <p:spPr>
          <a:xfrm>
            <a:off x="7543800" y="2359152"/>
            <a:ext cx="40690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useRef()</a:t>
            </a: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creates the object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555F7A"/>
                </a:solidFill>
                <a:latin typeface="Arial"/>
                <a:ea typeface="Arial"/>
                <a:cs typeface="Arial"/>
                <a:sym typeface="Arial"/>
              </a:rPr>
              <a:t>Starts as { current: null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6675120" y="3246120"/>
            <a:ext cx="5056632" cy="8229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6858000" y="342900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2"/>
          <p:cNvSpPr txBox="1"/>
          <p:nvPr/>
        </p:nvSpPr>
        <p:spPr>
          <a:xfrm>
            <a:off x="7543800" y="3319272"/>
            <a:ext cx="40690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React attaches the input element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555F7A"/>
                </a:solidFill>
                <a:latin typeface="Arial"/>
                <a:ea typeface="Arial"/>
                <a:cs typeface="Arial"/>
                <a:sym typeface="Arial"/>
              </a:rPr>
              <a:t>Through the ref={inputRef} attribute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2"/>
          <p:cNvSpPr/>
          <p:nvPr/>
        </p:nvSpPr>
        <p:spPr>
          <a:xfrm>
            <a:off x="6675120" y="4206240"/>
            <a:ext cx="5056632" cy="8229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6858000" y="438912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2"/>
          <p:cNvSpPr txBox="1"/>
          <p:nvPr/>
        </p:nvSpPr>
        <p:spPr>
          <a:xfrm>
            <a:off x="7543800" y="4279392"/>
            <a:ext cx="40690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.current</a:t>
            </a: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becomes the HTML input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555F7A"/>
                </a:solidFill>
                <a:latin typeface="Arial"/>
                <a:ea typeface="Arial"/>
                <a:cs typeface="Arial"/>
                <a:sym typeface="Arial"/>
              </a:rPr>
              <a:t>A real browser DOM element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2"/>
          <p:cNvSpPr/>
          <p:nvPr/>
        </p:nvSpPr>
        <p:spPr>
          <a:xfrm>
            <a:off x="6675120" y="5166360"/>
            <a:ext cx="5056632" cy="8229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6858000" y="5349240"/>
            <a:ext cx="457200" cy="457200"/>
          </a:xfrm>
          <a:prstGeom prst="ellipse">
            <a:avLst/>
          </a:prstGeom>
          <a:solidFill>
            <a:srgbClr val="2A38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2"/>
          <p:cNvSpPr txBox="1"/>
          <p:nvPr/>
        </p:nvSpPr>
        <p:spPr>
          <a:xfrm>
            <a:off x="7543800" y="5239512"/>
            <a:ext cx="40690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.focus()</a:t>
            </a: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calls the browser API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555F7A"/>
                </a:solidFill>
                <a:latin typeface="Arial"/>
                <a:ea typeface="Arial"/>
                <a:cs typeface="Arial"/>
                <a:sym typeface="Arial"/>
              </a:rPr>
              <a:t>The cursor jumps into the Username field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3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useRef() Example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3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Store the previous value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457200" y="1783080"/>
            <a:ext cx="5760720" cy="3849624"/>
          </a:xfrm>
          <a:prstGeom prst="roundRect">
            <a:avLst>
              <a:gd fmla="val 3500" name="adj"/>
            </a:avLst>
          </a:prstGeom>
          <a:solidFill>
            <a:srgbClr val="1B23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731520" y="193852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A9B4E8"/>
                </a:solidFill>
                <a:latin typeface="Arial"/>
                <a:ea typeface="Arial"/>
                <a:cs typeface="Arial"/>
                <a:sym typeface="Arial"/>
              </a:rPr>
              <a:t>Counter.jsx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731520" y="2286000"/>
            <a:ext cx="5303520" cy="3282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Counter() {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[count, setCount] = </a:t>
            </a:r>
            <a:r>
              <a:rPr b="1" i="0" lang="en-PH" sz="1200" u="none" cap="none" strike="noStrike">
                <a:solidFill>
                  <a:srgbClr val="9FB0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(0);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previousCount = </a:t>
            </a:r>
            <a:r>
              <a:rPr b="1" i="0" lang="en-PH" sz="120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(0);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PH" sz="1200" u="none" cap="none" strike="noStrike">
                <a:solidFill>
                  <a:srgbClr val="62D793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(() =&gt; {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previousCount.current = count;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}, [count]);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&lt;h2&gt;Current: {count}&lt;/h2&gt;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&lt;h3&gt;Previous: {previousCount.current}&lt;/h3&gt;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onClick={() =&gt; setCount(count + 1)}&gt;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Increase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33"/>
          <p:cNvSpPr txBox="1"/>
          <p:nvPr/>
        </p:nvSpPr>
        <p:spPr>
          <a:xfrm>
            <a:off x="6492240" y="178308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Render flow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1" name="Google Shape;621;p33"/>
          <p:cNvGraphicFramePr/>
          <p:nvPr/>
        </p:nvGraphicFramePr>
        <p:xfrm>
          <a:off x="649224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2103125"/>
                <a:gridCol w="1005850"/>
                <a:gridCol w="2130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previous.current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B45F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B45F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Effect updates ref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B45F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click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B45F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</a:tbl>
          </a:graphicData>
        </a:graphic>
      </p:graphicFrame>
      <p:sp>
        <p:nvSpPr>
          <p:cNvPr id="622" name="Google Shape;622;p33"/>
          <p:cNvSpPr/>
          <p:nvPr/>
        </p:nvSpPr>
        <p:spPr>
          <a:xfrm>
            <a:off x="6492240" y="5257800"/>
            <a:ext cx="5239512" cy="731520"/>
          </a:xfrm>
          <a:prstGeom prst="roundRect">
            <a:avLst>
              <a:gd fmla="val 12000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The ref updates after the render, </a:t>
            </a:r>
            <a:r>
              <a:rPr b="0" i="0" lang="en-PH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so Previous stays one step behind.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4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4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useRef() Example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4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Timer ID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4"/>
          <p:cNvSpPr/>
          <p:nvPr/>
        </p:nvSpPr>
        <p:spPr>
          <a:xfrm>
            <a:off x="457200" y="1783080"/>
            <a:ext cx="5760720" cy="3886772"/>
          </a:xfrm>
          <a:prstGeom prst="roundRect">
            <a:avLst>
              <a:gd fmla="val 3500" name="adj"/>
            </a:avLst>
          </a:prstGeom>
          <a:solidFill>
            <a:srgbClr val="1B23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4"/>
          <p:cNvSpPr txBox="1"/>
          <p:nvPr/>
        </p:nvSpPr>
        <p:spPr>
          <a:xfrm>
            <a:off x="731520" y="193852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A9B4E8"/>
                </a:solidFill>
                <a:latin typeface="Arial"/>
                <a:ea typeface="Arial"/>
                <a:cs typeface="Arial"/>
                <a:sym typeface="Arial"/>
              </a:rPr>
              <a:t>Stopwatch.jsx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4"/>
          <p:cNvSpPr txBox="1"/>
          <p:nvPr/>
        </p:nvSpPr>
        <p:spPr>
          <a:xfrm>
            <a:off x="731520" y="2286000"/>
            <a:ext cx="5303520" cy="331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Stopwatch() {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15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timerRef = </a:t>
            </a:r>
            <a:r>
              <a:rPr b="1" i="0" lang="en-PH" sz="115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(null);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15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start = () =&gt; {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timerRef.current = setInterval(() =&gt; {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console.log(</a:t>
            </a:r>
            <a:r>
              <a:rPr b="0" i="0" lang="en-PH" sz="115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"Running..."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}, 1000);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15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stop = () =&gt; {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clearInterval(timerRef.current);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15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onClick={start}&gt;Start&lt;/button&gt;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onClick={stop}&gt;Stop&lt;/button&gt;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PH" sz="115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4" name="Google Shape;634;p34"/>
          <p:cNvSpPr txBox="1"/>
          <p:nvPr/>
        </p:nvSpPr>
        <p:spPr>
          <a:xfrm>
            <a:off x="6492240" y="178308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Where the ID lives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6492240" y="2286000"/>
            <a:ext cx="5239512" cy="86868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ctr" bIns="45700" lIns="228600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Start button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timerRef.current = setInterval(...)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6492240" y="3474720"/>
            <a:ext cx="5239512" cy="86868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ctr" bIns="45700" lIns="228600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Stop button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clearInterval(timerRef.current)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8961120" y="3200400"/>
            <a:ext cx="31089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0A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6492240" y="4572000"/>
            <a:ext cx="5239512" cy="1417320"/>
          </a:xfrm>
          <a:prstGeom prst="roundRect">
            <a:avLst>
              <a:gd fmla="val 8000" name="adj"/>
            </a:avLst>
          </a:prstGeom>
          <a:solidFill>
            <a:srgbClr val="009243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D8F1E3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interval ID isn't displayed, so useRef is the right fit.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5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5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Render vs Re-render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5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The most common interview question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457200" y="1783080"/>
            <a:ext cx="5669280" cy="3671316"/>
          </a:xfrm>
          <a:prstGeom prst="roundRect">
            <a:avLst>
              <a:gd fmla="val 3500" name="adj"/>
            </a:avLst>
          </a:prstGeom>
          <a:solidFill>
            <a:srgbClr val="1B23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5"/>
          <p:cNvSpPr txBox="1"/>
          <p:nvPr/>
        </p:nvSpPr>
        <p:spPr>
          <a:xfrm>
            <a:off x="731520" y="19385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A9B4E8"/>
                </a:solidFill>
                <a:latin typeface="Arial"/>
                <a:ea typeface="Arial"/>
                <a:cs typeface="Arial"/>
                <a:sym typeface="Arial"/>
              </a:rPr>
              <a:t>Demo.jsx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731520" y="2286000"/>
            <a:ext cx="5212080" cy="310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Demo() {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[count, setCount] = </a:t>
            </a:r>
            <a:r>
              <a:rPr b="1" i="0" lang="en-PH" sz="1200" u="none" cap="none" strike="noStrike">
                <a:solidFill>
                  <a:srgbClr val="9FB0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(0);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ref = </a:t>
            </a:r>
            <a:r>
              <a:rPr b="1" i="0" lang="en-PH" sz="120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(0);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</a:t>
            </a:r>
            <a:r>
              <a:rPr b="0" i="0" lang="en-PH" sz="12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"Rendered"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2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onClick={() =&gt; setCount(count + 1)}&gt;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  State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onClick={() =&gt; ref.current++}&gt;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Ref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0" name="Google Shape;650;p35"/>
          <p:cNvSpPr txBox="1"/>
          <p:nvPr/>
        </p:nvSpPr>
        <p:spPr>
          <a:xfrm>
            <a:off x="6400800" y="178308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What happens on each click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1" name="Google Shape;651;p35"/>
          <p:cNvGraphicFramePr/>
          <p:nvPr/>
        </p:nvGraphicFramePr>
        <p:xfrm>
          <a:off x="64008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1600200"/>
                <a:gridCol w="1947675"/>
                <a:gridCol w="17830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updates?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 State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Rendered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0078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✔ Yes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 Ref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PH" sz="13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new render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PH" sz="1400" u="none" cap="none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✘ No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</a:tbl>
          </a:graphicData>
        </a:graphic>
      </p:graphicFrame>
      <p:sp>
        <p:nvSpPr>
          <p:cNvPr id="652" name="Google Shape;652;p35"/>
          <p:cNvSpPr txBox="1"/>
          <p:nvPr/>
        </p:nvSpPr>
        <p:spPr>
          <a:xfrm>
            <a:off x="6400800" y="434340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6400800" y="4800600"/>
            <a:ext cx="2606040" cy="118872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ctr" bIns="45700" lIns="182875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2A3890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State tells React something changed.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5"/>
          <p:cNvSpPr/>
          <p:nvPr/>
        </p:nvSpPr>
        <p:spPr>
          <a:xfrm>
            <a:off x="9125712" y="4800600"/>
            <a:ext cx="2606040" cy="1188720"/>
          </a:xfrm>
          <a:prstGeom prst="roundRect">
            <a:avLst>
              <a:gd fmla="val 9000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182875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PH" sz="1400" u="none" cap="none" strike="noStrike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ref changes silently.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6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6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Putting It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6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Combining all three: SearchBox.jsx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6"/>
          <p:cNvSpPr/>
          <p:nvPr/>
        </p:nvSpPr>
        <p:spPr>
          <a:xfrm>
            <a:off x="457200" y="1783080"/>
            <a:ext cx="5669280" cy="3760470"/>
          </a:xfrm>
          <a:prstGeom prst="roundRect">
            <a:avLst>
              <a:gd fmla="val 3500" name="adj"/>
            </a:avLst>
          </a:prstGeom>
          <a:solidFill>
            <a:srgbClr val="1B23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6"/>
          <p:cNvSpPr txBox="1"/>
          <p:nvPr/>
        </p:nvSpPr>
        <p:spPr>
          <a:xfrm>
            <a:off x="731520" y="19385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A9B4E8"/>
                </a:solidFill>
                <a:latin typeface="Arial"/>
                <a:ea typeface="Arial"/>
                <a:cs typeface="Arial"/>
                <a:sym typeface="Arial"/>
              </a:rPr>
              <a:t>SearchBox.jsx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6"/>
          <p:cNvSpPr txBox="1"/>
          <p:nvPr/>
        </p:nvSpPr>
        <p:spPr>
          <a:xfrm>
            <a:off x="731520" y="2286000"/>
            <a:ext cx="5212080" cy="3193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SearchBox()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4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[query, setQuery] = </a:t>
            </a:r>
            <a:r>
              <a:rPr b="1" i="0" lang="en-PH" sz="1400" u="none" cap="none" strike="noStrike">
                <a:solidFill>
                  <a:srgbClr val="9FB0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PH" sz="14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4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inputRef = </a:t>
            </a:r>
            <a:r>
              <a:rPr b="1" i="0" lang="en-PH" sz="1400" u="none" cap="none" strike="noStrike">
                <a:solidFill>
                  <a:srgbClr val="F7BC6E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PH" sz="1400" u="none" cap="none" strike="noStrike">
                <a:solidFill>
                  <a:srgbClr val="62D793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(() =&gt;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b="0" i="0" lang="en-PH" sz="14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"Searching:"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, query);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}, [query]);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PH" sz="1400" u="none" cap="none" strike="noStrike">
                <a:solidFill>
                  <a:srgbClr val="D9A0F2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clearSearch = () =&gt;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setQuery(</a:t>
            </a:r>
            <a:r>
              <a:rPr b="0" i="0" lang="en-PH" sz="1400" u="none" cap="none" strike="noStrike">
                <a:solidFill>
                  <a:srgbClr val="7FDBC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  inputRef.current.focus();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-PH" sz="1400" u="none" cap="none" strike="noStrike">
                <a:solidFill>
                  <a:srgbClr val="8A96C8"/>
                </a:solidFill>
                <a:latin typeface="Courier New"/>
                <a:ea typeface="Courier New"/>
                <a:cs typeface="Courier New"/>
                <a:sym typeface="Courier New"/>
              </a:rPr>
              <a:t>// return: &lt;input ref={inputRef} /&gt; + Clear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PH" sz="1400" u="none" cap="none" strike="noStrike">
                <a:solidFill>
                  <a:srgbClr val="E8EC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6" name="Google Shape;666;p36"/>
          <p:cNvSpPr txBox="1"/>
          <p:nvPr/>
        </p:nvSpPr>
        <p:spPr>
          <a:xfrm>
            <a:off x="6400800" y="178308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Hook responsibilities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6"/>
          <p:cNvSpPr/>
          <p:nvPr/>
        </p:nvSpPr>
        <p:spPr>
          <a:xfrm>
            <a:off x="6400800" y="2286000"/>
            <a:ext cx="5330952" cy="10515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6"/>
          <p:cNvSpPr/>
          <p:nvPr/>
        </p:nvSpPr>
        <p:spPr>
          <a:xfrm>
            <a:off x="6583680" y="2560320"/>
            <a:ext cx="2286000" cy="502920"/>
          </a:xfrm>
          <a:prstGeom prst="roundRect">
            <a:avLst>
              <a:gd fmla="val 25000" name="adj"/>
            </a:avLst>
          </a:prstGeom>
          <a:solidFill>
            <a:srgbClr val="2A3890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useState(query)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6"/>
          <p:cNvSpPr txBox="1"/>
          <p:nvPr/>
        </p:nvSpPr>
        <p:spPr>
          <a:xfrm>
            <a:off x="9098280" y="237744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Stores the typed text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6400800" y="3538728"/>
            <a:ext cx="5330952" cy="10515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6583680" y="3813048"/>
            <a:ext cx="2286000" cy="502920"/>
          </a:xfrm>
          <a:prstGeom prst="roundRect">
            <a:avLst>
              <a:gd fmla="val 25000" name="adj"/>
            </a:avLst>
          </a:prstGeom>
          <a:solidFill>
            <a:srgbClr val="00782F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useEffect([query])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6"/>
          <p:cNvSpPr txBox="1"/>
          <p:nvPr/>
        </p:nvSpPr>
        <p:spPr>
          <a:xfrm>
            <a:off x="9098280" y="3630168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Runs the search when the query changes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6"/>
          <p:cNvSpPr/>
          <p:nvPr/>
        </p:nvSpPr>
        <p:spPr>
          <a:xfrm>
            <a:off x="6400800" y="4791456"/>
            <a:ext cx="5330952" cy="1051560"/>
          </a:xfrm>
          <a:prstGeom prst="roundRect">
            <a:avLst>
              <a:gd fmla="val 9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6"/>
          <p:cNvSpPr/>
          <p:nvPr/>
        </p:nvSpPr>
        <p:spPr>
          <a:xfrm>
            <a:off x="6583680" y="5065776"/>
            <a:ext cx="2286000" cy="502920"/>
          </a:xfrm>
          <a:prstGeom prst="roundRect">
            <a:avLst>
              <a:gd fmla="val 25000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useRef(inputRef)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6"/>
          <p:cNvSpPr txBox="1"/>
          <p:nvPr/>
        </p:nvSpPr>
        <p:spPr>
          <a:xfrm>
            <a:off x="9098280" y="4882896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Refocuses the input after Clear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7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7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Putting It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7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SearchBox execution flow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457200" y="2011680"/>
            <a:ext cx="1965960" cy="2377440"/>
          </a:xfrm>
          <a:prstGeom prst="roundRect">
            <a:avLst>
              <a:gd fmla="val 6000" name="adj"/>
            </a:avLst>
          </a:prstGeom>
          <a:solidFill>
            <a:srgbClr val="44546A"/>
          </a:solidFill>
          <a:ln>
            <a:noFill/>
          </a:ln>
        </p:spPr>
        <p:txBody>
          <a:bodyPr anchorCtr="0" anchor="t" bIns="91425" lIns="164575" spcFirstLastPara="1" rIns="109725" wrap="square" tIns="82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types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621792" y="21945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2468880" y="3017520"/>
            <a:ext cx="27432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2784348" y="2011680"/>
            <a:ext cx="1965960" cy="2377440"/>
          </a:xfrm>
          <a:prstGeom prst="roundRect">
            <a:avLst>
              <a:gd fmla="val 6000" name="adj"/>
            </a:avLst>
          </a:prstGeom>
          <a:solidFill>
            <a:srgbClr val="2A3890"/>
          </a:solidFill>
          <a:ln>
            <a:noFill/>
          </a:ln>
        </p:spPr>
        <p:txBody>
          <a:bodyPr anchorCtr="0" anchor="t" bIns="91425" lIns="164575" spcFirstLastPara="1" rIns="109725" wrap="square" tIns="82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updates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setQuery("React")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2948940" y="21945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4796028" y="3017520"/>
            <a:ext cx="27432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5111496" y="2011680"/>
            <a:ext cx="1965960" cy="2377440"/>
          </a:xfrm>
          <a:prstGeom prst="roundRect">
            <a:avLst>
              <a:gd fmla="val 6000" name="adj"/>
            </a:avLst>
          </a:prstGeom>
          <a:solidFill>
            <a:srgbClr val="44546A"/>
          </a:solidFill>
          <a:ln>
            <a:noFill/>
          </a:ln>
        </p:spPr>
        <p:txBody>
          <a:bodyPr anchorCtr="0" anchor="t" bIns="91425" lIns="164575" spcFirstLastPara="1" rIns="109725" wrap="square" tIns="82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re-renders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query = "React"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5276088" y="21945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7123176" y="3017520"/>
            <a:ext cx="27432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7"/>
          <p:cNvSpPr/>
          <p:nvPr/>
        </p:nvSpPr>
        <p:spPr>
          <a:xfrm>
            <a:off x="7438644" y="2011680"/>
            <a:ext cx="1965960" cy="2377440"/>
          </a:xfrm>
          <a:prstGeom prst="roundRect">
            <a:avLst>
              <a:gd fmla="val 6000" name="adj"/>
            </a:avLst>
          </a:prstGeom>
          <a:solidFill>
            <a:srgbClr val="00782F"/>
          </a:solidFill>
          <a:ln>
            <a:noFill/>
          </a:ln>
        </p:spPr>
        <p:txBody>
          <a:bodyPr anchorCtr="0" anchor="t" bIns="91425" lIns="164575" spcFirstLastPara="1" rIns="109725" wrap="square" tIns="82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useEffect runs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Searching: React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7"/>
          <p:cNvSpPr/>
          <p:nvPr/>
        </p:nvSpPr>
        <p:spPr>
          <a:xfrm>
            <a:off x="7603236" y="21945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00782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7"/>
          <p:cNvSpPr/>
          <p:nvPr/>
        </p:nvSpPr>
        <p:spPr>
          <a:xfrm>
            <a:off x="9450324" y="3017520"/>
            <a:ext cx="27432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7"/>
          <p:cNvSpPr/>
          <p:nvPr/>
        </p:nvSpPr>
        <p:spPr>
          <a:xfrm>
            <a:off x="9765792" y="2011680"/>
            <a:ext cx="1965960" cy="2377440"/>
          </a:xfrm>
          <a:prstGeom prst="roundRect">
            <a:avLst>
              <a:gd fmla="val 6000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t" bIns="91425" lIns="164575" spcFirstLastPara="1" rIns="109725" wrap="square" tIns="822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PH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Clear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query = ""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inputRef.current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.focus()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7"/>
          <p:cNvSpPr/>
          <p:nvPr/>
        </p:nvSpPr>
        <p:spPr>
          <a:xfrm>
            <a:off x="9930384" y="21945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PH" sz="16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7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PH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Steps 1–4 repeat on every keystroke; step 5 happens when Clear is clicked.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7"/>
          <p:cNvSpPr txBox="1"/>
          <p:nvPr/>
        </p:nvSpPr>
        <p:spPr>
          <a:xfrm>
            <a:off x="457200" y="5257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PH" sz="1300" u="none" cap="none" strike="noStrike">
                <a:solidFill>
                  <a:srgbClr val="555F7A"/>
                </a:solidFill>
                <a:latin typeface="Arial"/>
                <a:ea typeface="Arial"/>
                <a:cs typeface="Arial"/>
                <a:sym typeface="Arial"/>
              </a:rPr>
              <a:t>Color key: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7"/>
          <p:cNvSpPr/>
          <p:nvPr/>
        </p:nvSpPr>
        <p:spPr>
          <a:xfrm>
            <a:off x="1600200" y="5257800"/>
            <a:ext cx="1600200" cy="365760"/>
          </a:xfrm>
          <a:prstGeom prst="roundRect">
            <a:avLst>
              <a:gd fmla="val 30000" name="adj"/>
            </a:avLst>
          </a:prstGeom>
          <a:solidFill>
            <a:srgbClr val="2A3890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7"/>
          <p:cNvSpPr/>
          <p:nvPr/>
        </p:nvSpPr>
        <p:spPr>
          <a:xfrm>
            <a:off x="3383280" y="5257800"/>
            <a:ext cx="1600200" cy="365760"/>
          </a:xfrm>
          <a:prstGeom prst="roundRect">
            <a:avLst>
              <a:gd fmla="val 30000" name="adj"/>
            </a:avLst>
          </a:prstGeom>
          <a:solidFill>
            <a:srgbClr val="00782F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7"/>
          <p:cNvSpPr/>
          <p:nvPr/>
        </p:nvSpPr>
        <p:spPr>
          <a:xfrm>
            <a:off x="5166360" y="5257800"/>
            <a:ext cx="1600200" cy="365760"/>
          </a:xfrm>
          <a:prstGeom prst="roundRect">
            <a:avLst>
              <a:gd fmla="val 30000" name="adj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7"/>
          <p:cNvSpPr/>
          <p:nvPr/>
        </p:nvSpPr>
        <p:spPr>
          <a:xfrm>
            <a:off x="6949440" y="5257800"/>
            <a:ext cx="1600200" cy="365760"/>
          </a:xfrm>
          <a:prstGeom prst="roundRect">
            <a:avLst>
              <a:gd fmla="val 30000" name="adj"/>
            </a:avLst>
          </a:prstGeom>
          <a:solidFill>
            <a:srgbClr val="44546A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PH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/ user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8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8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Wrap-up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8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Real-world uses and cheat sheet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8"/>
          <p:cNvSpPr txBox="1"/>
          <p:nvPr/>
        </p:nvSpPr>
        <p:spPr>
          <a:xfrm>
            <a:off x="457200" y="178308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Scenario → hook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3" name="Google Shape;713;p38"/>
          <p:cNvGraphicFramePr/>
          <p:nvPr/>
        </p:nvGraphicFramePr>
        <p:xfrm>
          <a:off x="457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3291850"/>
                <a:gridCol w="2194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Hook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PH" sz="14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 inputs, dark mode toggle, shopping cart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2A389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useState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PH" sz="14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Fetch users from an API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00782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</a:t>
                      </a:r>
                      <a:r>
                        <a:rPr b="1" i="0" lang="en-PH" sz="1200" u="none" cap="none" strike="noStrike">
                          <a:solidFill>
                            <a:srgbClr val="555F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b="1" i="0" lang="en-PH" sz="1200" u="none" cap="none" strike="noStrike">
                          <a:solidFill>
                            <a:srgbClr val="2A389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useState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PH" sz="14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Listen to window resize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00782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PH" sz="14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 / stop timers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00782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</a:t>
                      </a:r>
                      <a:r>
                        <a:rPr b="1" i="0" lang="en-PH" sz="1200" u="none" cap="none" strike="noStrike">
                          <a:solidFill>
                            <a:srgbClr val="555F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b="1" i="0" lang="en-PH" sz="1200" u="none" cap="none" strike="noStrike">
                          <a:solidFill>
                            <a:srgbClr val="B45F0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useRef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PH" sz="14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after error, scroll chat, previous value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B45F0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useRef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4" name="Google Shape;714;p38"/>
          <p:cNvSpPr txBox="1"/>
          <p:nvPr/>
        </p:nvSpPr>
        <p:spPr>
          <a:xfrm>
            <a:off x="6263640" y="178308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PH" sz="20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Cheat sheet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5" name="Google Shape;715;p38"/>
          <p:cNvGraphicFramePr/>
          <p:nvPr/>
        </p:nvGraphicFramePr>
        <p:xfrm>
          <a:off x="626364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{B2375D7F-E625-449F-AD94-6D000155E66E}</a:tableStyleId>
              </a:tblPr>
              <a:tblGrid>
                <a:gridCol w="1234450"/>
                <a:gridCol w="1417325"/>
                <a:gridCol w="1417325"/>
                <a:gridCol w="1399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useState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8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useEffect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782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8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PH" sz="13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useRef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5F06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Reactive state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38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Side effects after render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82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Persistent value or DOM reference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Triggers render?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0078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✔ Yes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indirectly, if it updates state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✘ No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B"/>
                    </a:solidFill>
                  </a:tcPr>
                </a:tc>
              </a:tr>
              <a:tr h="118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PH" sz="1200" u="none" cap="none" strike="noStrike">
                          <a:solidFill>
                            <a:srgbClr val="2A38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Typical examples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Counters, forms, lists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calls, subscriptions, timers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PH" sz="1200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input, previous value, interval 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9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9"/>
          <p:cNvSpPr txBox="1"/>
          <p:nvPr/>
        </p:nvSpPr>
        <p:spPr>
          <a:xfrm>
            <a:off x="7923184" y="6444476"/>
            <a:ext cx="219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PH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9"/>
          <p:cNvSpPr txBox="1"/>
          <p:nvPr/>
        </p:nvSpPr>
        <p:spPr>
          <a:xfrm>
            <a:off x="344170" y="543560"/>
            <a:ext cx="10972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PH" sz="3600" u="none" cap="none" strike="noStrike">
                <a:solidFill>
                  <a:srgbClr val="2A3890"/>
                </a:solidFill>
                <a:latin typeface="Arial"/>
                <a:ea typeface="Arial"/>
                <a:cs typeface="Arial"/>
                <a:sym typeface="Arial"/>
              </a:rPr>
              <a:t>Wrap-up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9"/>
          <p:cNvSpPr txBox="1"/>
          <p:nvPr/>
        </p:nvSpPr>
        <p:spPr>
          <a:xfrm>
            <a:off x="447040" y="1160133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PH" sz="2800" u="none" cap="none" strike="noStrike">
                <a:solidFill>
                  <a:srgbClr val="009243"/>
                </a:solidFill>
                <a:latin typeface="Arial"/>
                <a:ea typeface="Arial"/>
                <a:cs typeface="Arial"/>
                <a:sym typeface="Arial"/>
              </a:rPr>
              <a:t>Mental model (memory aid)</a:t>
            </a:r>
            <a:endParaRPr b="0" i="0" sz="1600" u="none" cap="none" strike="noStrike">
              <a:solidFill>
                <a:srgbClr val="009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9"/>
          <p:cNvSpPr/>
          <p:nvPr/>
        </p:nvSpPr>
        <p:spPr>
          <a:xfrm>
            <a:off x="457200" y="1828800"/>
            <a:ext cx="3611880" cy="3566160"/>
          </a:xfrm>
          <a:prstGeom prst="roundRect">
            <a:avLst>
              <a:gd fmla="val 5000" name="adj"/>
            </a:avLst>
          </a:prstGeom>
          <a:solidFill>
            <a:srgbClr val="EEF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9"/>
          <p:cNvSpPr/>
          <p:nvPr/>
        </p:nvSpPr>
        <p:spPr>
          <a:xfrm>
            <a:off x="457200" y="1828800"/>
            <a:ext cx="3611880" cy="1828800"/>
          </a:xfrm>
          <a:prstGeom prst="round2SameRect">
            <a:avLst>
              <a:gd fmla="val 9000" name="adj1"/>
              <a:gd fmla="val 0" name="adj2"/>
            </a:avLst>
          </a:prstGeom>
          <a:solidFill>
            <a:srgbClr val="2A3890"/>
          </a:solidFill>
          <a:ln>
            <a:noFill/>
          </a:ln>
        </p:spPr>
        <p:txBody>
          <a:bodyPr anchorCtr="0" anchor="ctr" bIns="91425" lIns="2743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PH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PH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Memory that React watches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731520" y="3886200"/>
            <a:ext cx="3108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PH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Changing it tells React to render again.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9"/>
          <p:cNvSpPr/>
          <p:nvPr/>
        </p:nvSpPr>
        <p:spPr>
          <a:xfrm>
            <a:off x="4288536" y="1828800"/>
            <a:ext cx="3611880" cy="3566160"/>
          </a:xfrm>
          <a:prstGeom prst="roundRect">
            <a:avLst>
              <a:gd fmla="val 5000" name="adj"/>
            </a:avLst>
          </a:prstGeom>
          <a:solidFill>
            <a:srgbClr val="E6F4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9"/>
          <p:cNvSpPr/>
          <p:nvPr/>
        </p:nvSpPr>
        <p:spPr>
          <a:xfrm>
            <a:off x="4288536" y="1828800"/>
            <a:ext cx="3611880" cy="1828800"/>
          </a:xfrm>
          <a:prstGeom prst="round2SameRect">
            <a:avLst>
              <a:gd fmla="val 9000" name="adj1"/>
              <a:gd fmla="val 0" name="adj2"/>
            </a:avLst>
          </a:prstGeom>
          <a:solidFill>
            <a:srgbClr val="00782F"/>
          </a:solidFill>
          <a:ln>
            <a:noFill/>
          </a:ln>
        </p:spPr>
        <p:txBody>
          <a:bodyPr anchorCtr="0" anchor="ctr" bIns="91425" lIns="2743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PH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PH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“After rendering, do this…”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9"/>
          <p:cNvSpPr txBox="1"/>
          <p:nvPr/>
        </p:nvSpPr>
        <p:spPr>
          <a:xfrm>
            <a:off x="4562856" y="3886200"/>
            <a:ext cx="3108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PH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Best for API requests, timers, event listeners and cleanup.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9"/>
          <p:cNvSpPr/>
          <p:nvPr/>
        </p:nvSpPr>
        <p:spPr>
          <a:xfrm>
            <a:off x="8119872" y="1828800"/>
            <a:ext cx="3611880" cy="3566160"/>
          </a:xfrm>
          <a:prstGeom prst="roundRect">
            <a:avLst>
              <a:gd fmla="val 5000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9"/>
          <p:cNvSpPr/>
          <p:nvPr/>
        </p:nvSpPr>
        <p:spPr>
          <a:xfrm>
            <a:off x="8119872" y="1828800"/>
            <a:ext cx="3611880" cy="1828800"/>
          </a:xfrm>
          <a:prstGeom prst="round2SameRect">
            <a:avLst>
              <a:gd fmla="val 9000" name="adj1"/>
              <a:gd fmla="val 0" name="adj2"/>
            </a:avLst>
          </a:prstGeom>
          <a:solidFill>
            <a:srgbClr val="B45F06"/>
          </a:solidFill>
          <a:ln>
            <a:noFill/>
          </a:ln>
        </p:spPr>
        <p:txBody>
          <a:bodyPr anchorCtr="0" anchor="ctr" bIns="91425" lIns="2743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PH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PH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A persistent box React ignores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9"/>
          <p:cNvSpPr txBox="1"/>
          <p:nvPr/>
        </p:nvSpPr>
        <p:spPr>
          <a:xfrm>
            <a:off x="8394192" y="3886200"/>
            <a:ext cx="3108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PH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Useful for DOM elements or values that shouldn’t trigger a render.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738" name="Google Shape;738;p40"/>
          <p:cNvSpPr txBox="1"/>
          <p:nvPr/>
        </p:nvSpPr>
        <p:spPr>
          <a:xfrm>
            <a:off x="3130454" y="5338624"/>
            <a:ext cx="5931092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PH" sz="7200" u="none" cap="none" strike="noStrike">
                <a:solidFill>
                  <a:srgbClr val="F5C065"/>
                </a:solidFill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 b="0" i="0" sz="7200" u="none" cap="none" strike="noStrike">
              <a:solidFill>
                <a:srgbClr val="F5C06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2022-08-18T03:11:35Z</dcterms:created>
  <dc:creator>john paul mauricio</dc:creator>
</cp:coreProperties>
</file>